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5" r:id="rId9"/>
    <p:sldId id="264"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6B5"/>
    <a:srgbClr val="1A1A1A"/>
    <a:srgbClr val="F3F3F3"/>
    <a:srgbClr val="FFFFFF"/>
    <a:srgbClr val="C2410C"/>
    <a:srgbClr val="FF7A00"/>
    <a:srgbClr val="E85D0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97"/>
    <p:restoredTop sz="79290"/>
  </p:normalViewPr>
  <p:slideViewPr>
    <p:cSldViewPr snapToGrid="0">
      <p:cViewPr varScale="1">
        <p:scale>
          <a:sx n="116" d="100"/>
          <a:sy n="116" d="100"/>
        </p:scale>
        <p:origin x="151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E2DC9D-C04F-441C-8524-B9576BE9CE4C}" type="doc">
      <dgm:prSet loTypeId="urn:microsoft.com/office/officeart/2005/8/layout/vProcess5" loCatId="process" qsTypeId="urn:microsoft.com/office/officeart/2005/8/quickstyle/simple4" qsCatId="simple" csTypeId="urn:microsoft.com/office/officeart/2005/8/colors/accent2_2" csCatId="accent2" phldr="1"/>
      <dgm:spPr/>
      <dgm:t>
        <a:bodyPr/>
        <a:lstStyle/>
        <a:p>
          <a:endParaRPr lang="en-US"/>
        </a:p>
      </dgm:t>
    </dgm:pt>
    <dgm:pt modelId="{88932069-6617-45E0-85D2-4F441FCF58EE}">
      <dgm:prSet custT="1"/>
      <dgm:spPr>
        <a:solidFill>
          <a:srgbClr val="FF7A00"/>
        </a:solidFill>
      </dgm:spPr>
      <dgm:t>
        <a:bodyPr/>
        <a:lstStyle/>
        <a:p>
          <a:r>
            <a:rPr lang="en-GB" sz="1800" dirty="0">
              <a:solidFill>
                <a:srgbClr val="FFFFFF"/>
              </a:solidFill>
              <a:latin typeface="Calibri" panose="020F0502020204030204" pitchFamily="34" charset="0"/>
              <a:cs typeface="Calibri" panose="020F0502020204030204" pitchFamily="34" charset="0"/>
            </a:rPr>
            <a:t>Formula 1 is the pinnacle of motorsport, with races held worldwide since 1950 and the fastest cars competing on iconic circuits.</a:t>
          </a:r>
          <a:endParaRPr lang="en-US" sz="1800" dirty="0">
            <a:solidFill>
              <a:srgbClr val="FFFFFF"/>
            </a:solidFill>
            <a:latin typeface="Calibri" panose="020F0502020204030204" pitchFamily="34" charset="0"/>
            <a:cs typeface="Calibri" panose="020F0502020204030204" pitchFamily="34" charset="0"/>
          </a:endParaRPr>
        </a:p>
      </dgm:t>
    </dgm:pt>
    <dgm:pt modelId="{1BBE86E2-6E74-4832-B02F-E4B9FD3B557B}" type="parTrans" cxnId="{3A55937F-4B8A-4A51-8895-BC08265BEE10}">
      <dgm:prSet/>
      <dgm:spPr/>
      <dgm:t>
        <a:bodyPr/>
        <a:lstStyle/>
        <a:p>
          <a:endParaRPr lang="en-US"/>
        </a:p>
      </dgm:t>
    </dgm:pt>
    <dgm:pt modelId="{9EC474EF-A5F7-455D-AEDF-6F1772C9F7D1}" type="sibTrans" cxnId="{3A55937F-4B8A-4A51-8895-BC08265BEE10}">
      <dgm:prSet/>
      <dgm:spPr>
        <a:solidFill>
          <a:srgbClr val="FFD6B5">
            <a:alpha val="89804"/>
          </a:srgbClr>
        </a:solidFill>
      </dgm:spPr>
      <dgm:t>
        <a:bodyPr/>
        <a:lstStyle/>
        <a:p>
          <a:endParaRPr lang="en-US"/>
        </a:p>
      </dgm:t>
    </dgm:pt>
    <dgm:pt modelId="{D6B64FB4-2273-4873-B2E7-710159D5464C}">
      <dgm:prSet custT="1"/>
      <dgm:spPr>
        <a:solidFill>
          <a:srgbClr val="E85D04"/>
        </a:solidFill>
      </dgm:spPr>
      <dgm:t>
        <a:bodyPr/>
        <a:lstStyle/>
        <a:p>
          <a:r>
            <a:rPr lang="en-GB" sz="1700" dirty="0">
              <a:latin typeface="Calibri" panose="020F0502020204030204" pitchFamily="34" charset="0"/>
              <a:cs typeface="Calibri" panose="020F0502020204030204" pitchFamily="34" charset="0"/>
            </a:rPr>
            <a:t>Over 75 years, regulation changes, safety improvements and technological advances have transformed performance, making historical comparisons challenging.</a:t>
          </a:r>
          <a:endParaRPr lang="en-US" sz="1700" dirty="0">
            <a:latin typeface="Calibri" panose="020F0502020204030204" pitchFamily="34" charset="0"/>
            <a:cs typeface="Calibri" panose="020F0502020204030204" pitchFamily="34" charset="0"/>
          </a:endParaRPr>
        </a:p>
      </dgm:t>
    </dgm:pt>
    <dgm:pt modelId="{79D7547E-4BF7-4103-B9EA-D191238CBC24}" type="parTrans" cxnId="{C8A30AF3-92CC-4D8B-B61B-DA5CAB78417C}">
      <dgm:prSet/>
      <dgm:spPr/>
      <dgm:t>
        <a:bodyPr/>
        <a:lstStyle/>
        <a:p>
          <a:endParaRPr lang="en-US"/>
        </a:p>
      </dgm:t>
    </dgm:pt>
    <dgm:pt modelId="{1298BD26-2917-490B-8329-0E8A55041529}" type="sibTrans" cxnId="{C8A30AF3-92CC-4D8B-B61B-DA5CAB78417C}">
      <dgm:prSet/>
      <dgm:spPr>
        <a:solidFill>
          <a:srgbClr val="FFD6B5">
            <a:alpha val="90000"/>
          </a:srgbClr>
        </a:solidFill>
      </dgm:spPr>
      <dgm:t>
        <a:bodyPr/>
        <a:lstStyle/>
        <a:p>
          <a:endParaRPr lang="en-US"/>
        </a:p>
      </dgm:t>
    </dgm:pt>
    <dgm:pt modelId="{ABF87A44-0AF8-4935-97EA-A038F4518810}">
      <dgm:prSet/>
      <dgm:spPr>
        <a:solidFill>
          <a:srgbClr val="FF7A00"/>
        </a:solidFill>
      </dgm:spPr>
      <dgm:t>
        <a:bodyPr/>
        <a:lstStyle/>
        <a:p>
          <a:r>
            <a:rPr lang="en-GB" dirty="0">
              <a:latin typeface="Calibri" panose="020F0502020204030204" pitchFamily="34" charset="0"/>
              <a:cs typeface="Calibri" panose="020F0502020204030204" pitchFamily="34" charset="0"/>
            </a:rPr>
            <a:t>Points systems have evolved from the original 8-6-4-3-2 format in the 1950s to today’s 25-18-15-12-10-8-6-4-2-1 system, shaping how success is measured.</a:t>
          </a:r>
          <a:endParaRPr lang="en-US" dirty="0">
            <a:latin typeface="Calibri" panose="020F0502020204030204" pitchFamily="34" charset="0"/>
            <a:cs typeface="Calibri" panose="020F0502020204030204" pitchFamily="34" charset="0"/>
          </a:endParaRPr>
        </a:p>
      </dgm:t>
    </dgm:pt>
    <dgm:pt modelId="{B5FEB14C-AADC-4C47-A05D-01A15AB4950F}" type="parTrans" cxnId="{09C60D21-B6C7-4118-BD3D-DEBB11C37FAE}">
      <dgm:prSet/>
      <dgm:spPr/>
      <dgm:t>
        <a:bodyPr/>
        <a:lstStyle/>
        <a:p>
          <a:endParaRPr lang="en-US"/>
        </a:p>
      </dgm:t>
    </dgm:pt>
    <dgm:pt modelId="{1529BF3F-E073-4D95-9EEA-E510C0B64CD8}" type="sibTrans" cxnId="{09C60D21-B6C7-4118-BD3D-DEBB11C37FAE}">
      <dgm:prSet/>
      <dgm:spPr>
        <a:solidFill>
          <a:srgbClr val="FFD6B5">
            <a:alpha val="90000"/>
          </a:srgbClr>
        </a:solidFill>
      </dgm:spPr>
      <dgm:t>
        <a:bodyPr/>
        <a:lstStyle/>
        <a:p>
          <a:endParaRPr lang="en-US"/>
        </a:p>
      </dgm:t>
    </dgm:pt>
    <dgm:pt modelId="{600BC197-A13E-43F1-B08C-70EB9B5C5886}">
      <dgm:prSet/>
      <dgm:spPr>
        <a:solidFill>
          <a:srgbClr val="E85D04"/>
        </a:solidFill>
      </dgm:spPr>
      <dgm:t>
        <a:bodyPr/>
        <a:lstStyle/>
        <a:p>
          <a:r>
            <a:rPr lang="en-GB" dirty="0">
              <a:solidFill>
                <a:schemeClr val="bg1"/>
              </a:solidFill>
              <a:latin typeface="Calibri" panose="020F0502020204030204" pitchFamily="34" charset="0"/>
              <a:cs typeface="Calibri" panose="020F0502020204030204" pitchFamily="34" charset="0"/>
            </a:rPr>
            <a:t>Modern data analysis reveals performance patterns, driver dominance and circuit-specific trends that were previously hidden.</a:t>
          </a:r>
          <a:endParaRPr lang="en-US" dirty="0">
            <a:solidFill>
              <a:schemeClr val="bg1"/>
            </a:solidFill>
            <a:latin typeface="Calibri" panose="020F0502020204030204" pitchFamily="34" charset="0"/>
            <a:cs typeface="Calibri" panose="020F0502020204030204" pitchFamily="34" charset="0"/>
          </a:endParaRPr>
        </a:p>
      </dgm:t>
    </dgm:pt>
    <dgm:pt modelId="{80AE0C23-35E4-4D10-AD73-F05443C9DC30}" type="parTrans" cxnId="{E35D65E8-84F8-4AFE-B171-764A918B56A9}">
      <dgm:prSet/>
      <dgm:spPr/>
      <dgm:t>
        <a:bodyPr/>
        <a:lstStyle/>
        <a:p>
          <a:endParaRPr lang="en-US"/>
        </a:p>
      </dgm:t>
    </dgm:pt>
    <dgm:pt modelId="{1C80158A-241F-4B7E-B0E0-DAAD23A234BC}" type="sibTrans" cxnId="{E35D65E8-84F8-4AFE-B171-764A918B56A9}">
      <dgm:prSet/>
      <dgm:spPr>
        <a:solidFill>
          <a:srgbClr val="FFD6B5">
            <a:alpha val="90000"/>
          </a:srgbClr>
        </a:solidFill>
      </dgm:spPr>
      <dgm:t>
        <a:bodyPr/>
        <a:lstStyle/>
        <a:p>
          <a:endParaRPr lang="en-US"/>
        </a:p>
      </dgm:t>
    </dgm:pt>
    <dgm:pt modelId="{AD018212-3884-413A-BF49-EC913EF97E5E}">
      <dgm:prSet/>
      <dgm:spPr>
        <a:solidFill>
          <a:srgbClr val="C2410C"/>
        </a:solidFill>
      </dgm:spPr>
      <dgm:t>
        <a:bodyPr/>
        <a:lstStyle/>
        <a:p>
          <a:r>
            <a:rPr lang="en-GB" dirty="0">
              <a:solidFill>
                <a:schemeClr val="bg1"/>
              </a:solidFill>
              <a:latin typeface="Calibri" panose="020F0502020204030204" pitchFamily="34" charset="0"/>
              <a:cs typeface="Calibri" panose="020F0502020204030204" pitchFamily="34" charset="0"/>
            </a:rPr>
            <a:t>This project combines race results, qualifying data and driver standings from 1950–2024 to uncover new insights into Formula 1 history.</a:t>
          </a:r>
          <a:endParaRPr lang="en-US" dirty="0">
            <a:solidFill>
              <a:schemeClr val="bg1"/>
            </a:solidFill>
            <a:latin typeface="Calibri" panose="020F0502020204030204" pitchFamily="34" charset="0"/>
            <a:cs typeface="Calibri" panose="020F0502020204030204" pitchFamily="34" charset="0"/>
          </a:endParaRPr>
        </a:p>
      </dgm:t>
    </dgm:pt>
    <dgm:pt modelId="{C4001978-BA62-41A1-B64D-8F177C7E0D12}" type="parTrans" cxnId="{36912B03-9C31-4D6F-BB8A-C728B7A75959}">
      <dgm:prSet/>
      <dgm:spPr/>
      <dgm:t>
        <a:bodyPr/>
        <a:lstStyle/>
        <a:p>
          <a:endParaRPr lang="en-US"/>
        </a:p>
      </dgm:t>
    </dgm:pt>
    <dgm:pt modelId="{B273266A-5464-400F-A9A4-203475A0BF95}" type="sibTrans" cxnId="{36912B03-9C31-4D6F-BB8A-C728B7A75959}">
      <dgm:prSet/>
      <dgm:spPr/>
      <dgm:t>
        <a:bodyPr/>
        <a:lstStyle/>
        <a:p>
          <a:endParaRPr lang="en-US"/>
        </a:p>
      </dgm:t>
    </dgm:pt>
    <dgm:pt modelId="{1484A7DC-4117-7242-9BA0-02EB43660D0D}" type="pres">
      <dgm:prSet presAssocID="{87E2DC9D-C04F-441C-8524-B9576BE9CE4C}" presName="outerComposite" presStyleCnt="0">
        <dgm:presLayoutVars>
          <dgm:chMax val="5"/>
          <dgm:dir/>
          <dgm:resizeHandles val="exact"/>
        </dgm:presLayoutVars>
      </dgm:prSet>
      <dgm:spPr/>
    </dgm:pt>
    <dgm:pt modelId="{E300DDBA-8070-9E4B-A872-5E5438206C87}" type="pres">
      <dgm:prSet presAssocID="{87E2DC9D-C04F-441C-8524-B9576BE9CE4C}" presName="dummyMaxCanvas" presStyleCnt="0">
        <dgm:presLayoutVars/>
      </dgm:prSet>
      <dgm:spPr/>
    </dgm:pt>
    <dgm:pt modelId="{5569F414-2D5E-474A-9BA6-3D0BC81F52E4}" type="pres">
      <dgm:prSet presAssocID="{87E2DC9D-C04F-441C-8524-B9576BE9CE4C}" presName="FiveNodes_1" presStyleLbl="node1" presStyleIdx="0" presStyleCnt="5">
        <dgm:presLayoutVars>
          <dgm:bulletEnabled val="1"/>
        </dgm:presLayoutVars>
      </dgm:prSet>
      <dgm:spPr/>
    </dgm:pt>
    <dgm:pt modelId="{CF371ED9-A0D0-6C49-90EB-8DE887F15BD0}" type="pres">
      <dgm:prSet presAssocID="{87E2DC9D-C04F-441C-8524-B9576BE9CE4C}" presName="FiveNodes_2" presStyleLbl="node1" presStyleIdx="1" presStyleCnt="5">
        <dgm:presLayoutVars>
          <dgm:bulletEnabled val="1"/>
        </dgm:presLayoutVars>
      </dgm:prSet>
      <dgm:spPr/>
    </dgm:pt>
    <dgm:pt modelId="{FC40926D-7455-5440-A1A0-8B0F52EC280B}" type="pres">
      <dgm:prSet presAssocID="{87E2DC9D-C04F-441C-8524-B9576BE9CE4C}" presName="FiveNodes_3" presStyleLbl="node1" presStyleIdx="2" presStyleCnt="5">
        <dgm:presLayoutVars>
          <dgm:bulletEnabled val="1"/>
        </dgm:presLayoutVars>
      </dgm:prSet>
      <dgm:spPr/>
    </dgm:pt>
    <dgm:pt modelId="{BBEBFAC0-8FCA-B347-960B-20C65355D860}" type="pres">
      <dgm:prSet presAssocID="{87E2DC9D-C04F-441C-8524-B9576BE9CE4C}" presName="FiveNodes_4" presStyleLbl="node1" presStyleIdx="3" presStyleCnt="5">
        <dgm:presLayoutVars>
          <dgm:bulletEnabled val="1"/>
        </dgm:presLayoutVars>
      </dgm:prSet>
      <dgm:spPr/>
    </dgm:pt>
    <dgm:pt modelId="{805CCFC7-0967-4E41-B682-B823D8160A0D}" type="pres">
      <dgm:prSet presAssocID="{87E2DC9D-C04F-441C-8524-B9576BE9CE4C}" presName="FiveNodes_5" presStyleLbl="node1" presStyleIdx="4" presStyleCnt="5">
        <dgm:presLayoutVars>
          <dgm:bulletEnabled val="1"/>
        </dgm:presLayoutVars>
      </dgm:prSet>
      <dgm:spPr/>
    </dgm:pt>
    <dgm:pt modelId="{CC527BE3-A544-164C-AA7E-0F361F7A490D}" type="pres">
      <dgm:prSet presAssocID="{87E2DC9D-C04F-441C-8524-B9576BE9CE4C}" presName="FiveConn_1-2" presStyleLbl="fgAccFollowNode1" presStyleIdx="0" presStyleCnt="4">
        <dgm:presLayoutVars>
          <dgm:bulletEnabled val="1"/>
        </dgm:presLayoutVars>
      </dgm:prSet>
      <dgm:spPr/>
    </dgm:pt>
    <dgm:pt modelId="{90CC0B38-CE68-CE4D-8F54-133611A7426E}" type="pres">
      <dgm:prSet presAssocID="{87E2DC9D-C04F-441C-8524-B9576BE9CE4C}" presName="FiveConn_2-3" presStyleLbl="fgAccFollowNode1" presStyleIdx="1" presStyleCnt="4">
        <dgm:presLayoutVars>
          <dgm:bulletEnabled val="1"/>
        </dgm:presLayoutVars>
      </dgm:prSet>
      <dgm:spPr/>
    </dgm:pt>
    <dgm:pt modelId="{738EBB29-273D-AD4A-B59B-E51B7C4CD3C1}" type="pres">
      <dgm:prSet presAssocID="{87E2DC9D-C04F-441C-8524-B9576BE9CE4C}" presName="FiveConn_3-4" presStyleLbl="fgAccFollowNode1" presStyleIdx="2" presStyleCnt="4">
        <dgm:presLayoutVars>
          <dgm:bulletEnabled val="1"/>
        </dgm:presLayoutVars>
      </dgm:prSet>
      <dgm:spPr/>
    </dgm:pt>
    <dgm:pt modelId="{483AB64C-617D-5A44-83B7-9A60BA4BD273}" type="pres">
      <dgm:prSet presAssocID="{87E2DC9D-C04F-441C-8524-B9576BE9CE4C}" presName="FiveConn_4-5" presStyleLbl="fgAccFollowNode1" presStyleIdx="3" presStyleCnt="4">
        <dgm:presLayoutVars>
          <dgm:bulletEnabled val="1"/>
        </dgm:presLayoutVars>
      </dgm:prSet>
      <dgm:spPr/>
    </dgm:pt>
    <dgm:pt modelId="{443698AB-DD18-0A40-ADBA-55ED229A7FDD}" type="pres">
      <dgm:prSet presAssocID="{87E2DC9D-C04F-441C-8524-B9576BE9CE4C}" presName="FiveNodes_1_text" presStyleLbl="node1" presStyleIdx="4" presStyleCnt="5">
        <dgm:presLayoutVars>
          <dgm:bulletEnabled val="1"/>
        </dgm:presLayoutVars>
      </dgm:prSet>
      <dgm:spPr/>
    </dgm:pt>
    <dgm:pt modelId="{73CB1F9E-E4CC-2F48-B3E5-04E518F2B0D9}" type="pres">
      <dgm:prSet presAssocID="{87E2DC9D-C04F-441C-8524-B9576BE9CE4C}" presName="FiveNodes_2_text" presStyleLbl="node1" presStyleIdx="4" presStyleCnt="5">
        <dgm:presLayoutVars>
          <dgm:bulletEnabled val="1"/>
        </dgm:presLayoutVars>
      </dgm:prSet>
      <dgm:spPr/>
    </dgm:pt>
    <dgm:pt modelId="{4B95C517-982B-084C-87F3-4C54D259E4E0}" type="pres">
      <dgm:prSet presAssocID="{87E2DC9D-C04F-441C-8524-B9576BE9CE4C}" presName="FiveNodes_3_text" presStyleLbl="node1" presStyleIdx="4" presStyleCnt="5">
        <dgm:presLayoutVars>
          <dgm:bulletEnabled val="1"/>
        </dgm:presLayoutVars>
      </dgm:prSet>
      <dgm:spPr/>
    </dgm:pt>
    <dgm:pt modelId="{9CAFF4DC-46E9-CA45-A1AD-C8A40805CD5F}" type="pres">
      <dgm:prSet presAssocID="{87E2DC9D-C04F-441C-8524-B9576BE9CE4C}" presName="FiveNodes_4_text" presStyleLbl="node1" presStyleIdx="4" presStyleCnt="5">
        <dgm:presLayoutVars>
          <dgm:bulletEnabled val="1"/>
        </dgm:presLayoutVars>
      </dgm:prSet>
      <dgm:spPr/>
    </dgm:pt>
    <dgm:pt modelId="{F48CF2F4-5F0A-4F47-9A39-443D2E57C024}" type="pres">
      <dgm:prSet presAssocID="{87E2DC9D-C04F-441C-8524-B9576BE9CE4C}" presName="FiveNodes_5_text" presStyleLbl="node1" presStyleIdx="4" presStyleCnt="5">
        <dgm:presLayoutVars>
          <dgm:bulletEnabled val="1"/>
        </dgm:presLayoutVars>
      </dgm:prSet>
      <dgm:spPr/>
    </dgm:pt>
  </dgm:ptLst>
  <dgm:cxnLst>
    <dgm:cxn modelId="{36912B03-9C31-4D6F-BB8A-C728B7A75959}" srcId="{87E2DC9D-C04F-441C-8524-B9576BE9CE4C}" destId="{AD018212-3884-413A-BF49-EC913EF97E5E}" srcOrd="4" destOrd="0" parTransId="{C4001978-BA62-41A1-B64D-8F177C7E0D12}" sibTransId="{B273266A-5464-400F-A9A4-203475A0BF95}"/>
    <dgm:cxn modelId="{0E3E300D-A4B3-C84D-8D86-1909954C986B}" type="presOf" srcId="{1529BF3F-E073-4D95-9EEA-E510C0B64CD8}" destId="{738EBB29-273D-AD4A-B59B-E51B7C4CD3C1}" srcOrd="0" destOrd="0" presId="urn:microsoft.com/office/officeart/2005/8/layout/vProcess5"/>
    <dgm:cxn modelId="{09C60D21-B6C7-4118-BD3D-DEBB11C37FAE}" srcId="{87E2DC9D-C04F-441C-8524-B9576BE9CE4C}" destId="{ABF87A44-0AF8-4935-97EA-A038F4518810}" srcOrd="2" destOrd="0" parTransId="{B5FEB14C-AADC-4C47-A05D-01A15AB4950F}" sibTransId="{1529BF3F-E073-4D95-9EEA-E510C0B64CD8}"/>
    <dgm:cxn modelId="{F236EE39-8EB4-2543-BC52-9D68373B037D}" type="presOf" srcId="{1C80158A-241F-4B7E-B0E0-DAAD23A234BC}" destId="{483AB64C-617D-5A44-83B7-9A60BA4BD273}" srcOrd="0" destOrd="0" presId="urn:microsoft.com/office/officeart/2005/8/layout/vProcess5"/>
    <dgm:cxn modelId="{10F8F54A-C4DC-0349-8D01-AC106414B3AC}" type="presOf" srcId="{600BC197-A13E-43F1-B08C-70EB9B5C5886}" destId="{9CAFF4DC-46E9-CA45-A1AD-C8A40805CD5F}" srcOrd="1" destOrd="0" presId="urn:microsoft.com/office/officeart/2005/8/layout/vProcess5"/>
    <dgm:cxn modelId="{C8C5F160-D7DE-954C-B8AB-5FE8406755A4}" type="presOf" srcId="{9EC474EF-A5F7-455D-AEDF-6F1772C9F7D1}" destId="{CC527BE3-A544-164C-AA7E-0F361F7A490D}" srcOrd="0" destOrd="0" presId="urn:microsoft.com/office/officeart/2005/8/layout/vProcess5"/>
    <dgm:cxn modelId="{C7624377-1E58-DE4C-AF47-ADBA26ABA4DA}" type="presOf" srcId="{ABF87A44-0AF8-4935-97EA-A038F4518810}" destId="{4B95C517-982B-084C-87F3-4C54D259E4E0}" srcOrd="1" destOrd="0" presId="urn:microsoft.com/office/officeart/2005/8/layout/vProcess5"/>
    <dgm:cxn modelId="{3A55937F-4B8A-4A51-8895-BC08265BEE10}" srcId="{87E2DC9D-C04F-441C-8524-B9576BE9CE4C}" destId="{88932069-6617-45E0-85D2-4F441FCF58EE}" srcOrd="0" destOrd="0" parTransId="{1BBE86E2-6E74-4832-B02F-E4B9FD3B557B}" sibTransId="{9EC474EF-A5F7-455D-AEDF-6F1772C9F7D1}"/>
    <dgm:cxn modelId="{1847EE8D-9904-E642-BAD1-1F3D5E3A99AB}" type="presOf" srcId="{D6B64FB4-2273-4873-B2E7-710159D5464C}" destId="{73CB1F9E-E4CC-2F48-B3E5-04E518F2B0D9}" srcOrd="1" destOrd="0" presId="urn:microsoft.com/office/officeart/2005/8/layout/vProcess5"/>
    <dgm:cxn modelId="{9410AB90-3BF9-174C-883E-827B1528CFD1}" type="presOf" srcId="{600BC197-A13E-43F1-B08C-70EB9B5C5886}" destId="{BBEBFAC0-8FCA-B347-960B-20C65355D860}" srcOrd="0" destOrd="0" presId="urn:microsoft.com/office/officeart/2005/8/layout/vProcess5"/>
    <dgm:cxn modelId="{86BADB90-120A-B242-8F58-6E6852605BE8}" type="presOf" srcId="{88932069-6617-45E0-85D2-4F441FCF58EE}" destId="{5569F414-2D5E-474A-9BA6-3D0BC81F52E4}" srcOrd="0" destOrd="0" presId="urn:microsoft.com/office/officeart/2005/8/layout/vProcess5"/>
    <dgm:cxn modelId="{857BCA9D-3FD6-0142-8304-BAD0E6EDCF5B}" type="presOf" srcId="{88932069-6617-45E0-85D2-4F441FCF58EE}" destId="{443698AB-DD18-0A40-ADBA-55ED229A7FDD}" srcOrd="1" destOrd="0" presId="urn:microsoft.com/office/officeart/2005/8/layout/vProcess5"/>
    <dgm:cxn modelId="{54E0529F-B774-F74F-9E65-CD60DBFA94DE}" type="presOf" srcId="{87E2DC9D-C04F-441C-8524-B9576BE9CE4C}" destId="{1484A7DC-4117-7242-9BA0-02EB43660D0D}" srcOrd="0" destOrd="0" presId="urn:microsoft.com/office/officeart/2005/8/layout/vProcess5"/>
    <dgm:cxn modelId="{FF9F689F-1670-2D42-A9F9-8A1A4A598547}" type="presOf" srcId="{AD018212-3884-413A-BF49-EC913EF97E5E}" destId="{F48CF2F4-5F0A-4F47-9A39-443D2E57C024}" srcOrd="1" destOrd="0" presId="urn:microsoft.com/office/officeart/2005/8/layout/vProcess5"/>
    <dgm:cxn modelId="{C26F88C0-8C08-8748-BFA8-42E94C2155D3}" type="presOf" srcId="{AD018212-3884-413A-BF49-EC913EF97E5E}" destId="{805CCFC7-0967-4E41-B682-B823D8160A0D}" srcOrd="0" destOrd="0" presId="urn:microsoft.com/office/officeart/2005/8/layout/vProcess5"/>
    <dgm:cxn modelId="{474C62C7-EC60-784B-A50D-B1E838FCE5EE}" type="presOf" srcId="{ABF87A44-0AF8-4935-97EA-A038F4518810}" destId="{FC40926D-7455-5440-A1A0-8B0F52EC280B}" srcOrd="0" destOrd="0" presId="urn:microsoft.com/office/officeart/2005/8/layout/vProcess5"/>
    <dgm:cxn modelId="{E35D65E8-84F8-4AFE-B171-764A918B56A9}" srcId="{87E2DC9D-C04F-441C-8524-B9576BE9CE4C}" destId="{600BC197-A13E-43F1-B08C-70EB9B5C5886}" srcOrd="3" destOrd="0" parTransId="{80AE0C23-35E4-4D10-AD73-F05443C9DC30}" sibTransId="{1C80158A-241F-4B7E-B0E0-DAAD23A234BC}"/>
    <dgm:cxn modelId="{C8A30AF3-92CC-4D8B-B61B-DA5CAB78417C}" srcId="{87E2DC9D-C04F-441C-8524-B9576BE9CE4C}" destId="{D6B64FB4-2273-4873-B2E7-710159D5464C}" srcOrd="1" destOrd="0" parTransId="{79D7547E-4BF7-4103-B9EA-D191238CBC24}" sibTransId="{1298BD26-2917-490B-8329-0E8A55041529}"/>
    <dgm:cxn modelId="{12C5DEF6-53E7-C34D-93E4-C560EDC226B9}" type="presOf" srcId="{1298BD26-2917-490B-8329-0E8A55041529}" destId="{90CC0B38-CE68-CE4D-8F54-133611A7426E}" srcOrd="0" destOrd="0" presId="urn:microsoft.com/office/officeart/2005/8/layout/vProcess5"/>
    <dgm:cxn modelId="{B3F307F8-288E-3F40-88F7-A74F38A8912E}" type="presOf" srcId="{D6B64FB4-2273-4873-B2E7-710159D5464C}" destId="{CF371ED9-A0D0-6C49-90EB-8DE887F15BD0}" srcOrd="0" destOrd="0" presId="urn:microsoft.com/office/officeart/2005/8/layout/vProcess5"/>
    <dgm:cxn modelId="{9F2E9C5C-9254-7F48-BC9F-954348344712}" type="presParOf" srcId="{1484A7DC-4117-7242-9BA0-02EB43660D0D}" destId="{E300DDBA-8070-9E4B-A872-5E5438206C87}" srcOrd="0" destOrd="0" presId="urn:microsoft.com/office/officeart/2005/8/layout/vProcess5"/>
    <dgm:cxn modelId="{3BEB4506-CDDE-0447-8C43-D1E7A36D88DC}" type="presParOf" srcId="{1484A7DC-4117-7242-9BA0-02EB43660D0D}" destId="{5569F414-2D5E-474A-9BA6-3D0BC81F52E4}" srcOrd="1" destOrd="0" presId="urn:microsoft.com/office/officeart/2005/8/layout/vProcess5"/>
    <dgm:cxn modelId="{CA6F5D88-6419-7F48-AB74-8310AB283066}" type="presParOf" srcId="{1484A7DC-4117-7242-9BA0-02EB43660D0D}" destId="{CF371ED9-A0D0-6C49-90EB-8DE887F15BD0}" srcOrd="2" destOrd="0" presId="urn:microsoft.com/office/officeart/2005/8/layout/vProcess5"/>
    <dgm:cxn modelId="{1D964F59-82D8-F54B-902D-60235A9FE046}" type="presParOf" srcId="{1484A7DC-4117-7242-9BA0-02EB43660D0D}" destId="{FC40926D-7455-5440-A1A0-8B0F52EC280B}" srcOrd="3" destOrd="0" presId="urn:microsoft.com/office/officeart/2005/8/layout/vProcess5"/>
    <dgm:cxn modelId="{C55418F1-8F7F-9E47-B84E-E63DAD2CB81E}" type="presParOf" srcId="{1484A7DC-4117-7242-9BA0-02EB43660D0D}" destId="{BBEBFAC0-8FCA-B347-960B-20C65355D860}" srcOrd="4" destOrd="0" presId="urn:microsoft.com/office/officeart/2005/8/layout/vProcess5"/>
    <dgm:cxn modelId="{2E8F5049-BDD4-4C48-821B-3152924675C2}" type="presParOf" srcId="{1484A7DC-4117-7242-9BA0-02EB43660D0D}" destId="{805CCFC7-0967-4E41-B682-B823D8160A0D}" srcOrd="5" destOrd="0" presId="urn:microsoft.com/office/officeart/2005/8/layout/vProcess5"/>
    <dgm:cxn modelId="{78CBEDAE-CD9B-E54F-A2B0-55C7B84D41B3}" type="presParOf" srcId="{1484A7DC-4117-7242-9BA0-02EB43660D0D}" destId="{CC527BE3-A544-164C-AA7E-0F361F7A490D}" srcOrd="6" destOrd="0" presId="urn:microsoft.com/office/officeart/2005/8/layout/vProcess5"/>
    <dgm:cxn modelId="{8C0E28D6-6337-FC49-8B94-7CC9F846FA47}" type="presParOf" srcId="{1484A7DC-4117-7242-9BA0-02EB43660D0D}" destId="{90CC0B38-CE68-CE4D-8F54-133611A7426E}" srcOrd="7" destOrd="0" presId="urn:microsoft.com/office/officeart/2005/8/layout/vProcess5"/>
    <dgm:cxn modelId="{409D3573-64BF-5C4C-A30C-C7D8EAC3FBA3}" type="presParOf" srcId="{1484A7DC-4117-7242-9BA0-02EB43660D0D}" destId="{738EBB29-273D-AD4A-B59B-E51B7C4CD3C1}" srcOrd="8" destOrd="0" presId="urn:microsoft.com/office/officeart/2005/8/layout/vProcess5"/>
    <dgm:cxn modelId="{37F7E6EC-CB59-584E-A696-C7C3D82683D0}" type="presParOf" srcId="{1484A7DC-4117-7242-9BA0-02EB43660D0D}" destId="{483AB64C-617D-5A44-83B7-9A60BA4BD273}" srcOrd="9" destOrd="0" presId="urn:microsoft.com/office/officeart/2005/8/layout/vProcess5"/>
    <dgm:cxn modelId="{FB8B9E8E-4884-434E-A0AE-65FB0E525FA6}" type="presParOf" srcId="{1484A7DC-4117-7242-9BA0-02EB43660D0D}" destId="{443698AB-DD18-0A40-ADBA-55ED229A7FDD}" srcOrd="10" destOrd="0" presId="urn:microsoft.com/office/officeart/2005/8/layout/vProcess5"/>
    <dgm:cxn modelId="{4006372A-A235-A047-817B-E5012F520666}" type="presParOf" srcId="{1484A7DC-4117-7242-9BA0-02EB43660D0D}" destId="{73CB1F9E-E4CC-2F48-B3E5-04E518F2B0D9}" srcOrd="11" destOrd="0" presId="urn:microsoft.com/office/officeart/2005/8/layout/vProcess5"/>
    <dgm:cxn modelId="{7DDDD7B9-0B00-1E42-8EAA-D00CF3FB7C40}" type="presParOf" srcId="{1484A7DC-4117-7242-9BA0-02EB43660D0D}" destId="{4B95C517-982B-084C-87F3-4C54D259E4E0}" srcOrd="12" destOrd="0" presId="urn:microsoft.com/office/officeart/2005/8/layout/vProcess5"/>
    <dgm:cxn modelId="{0F39BF50-5330-3643-8E15-2F8EC824071F}" type="presParOf" srcId="{1484A7DC-4117-7242-9BA0-02EB43660D0D}" destId="{9CAFF4DC-46E9-CA45-A1AD-C8A40805CD5F}" srcOrd="13" destOrd="0" presId="urn:microsoft.com/office/officeart/2005/8/layout/vProcess5"/>
    <dgm:cxn modelId="{44913A5C-B03F-374B-939C-08A9D9FA7B21}" type="presParOf" srcId="{1484A7DC-4117-7242-9BA0-02EB43660D0D}" destId="{F48CF2F4-5F0A-4F47-9A39-443D2E57C024}"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69F414-2D5E-474A-9BA6-3D0BC81F52E4}">
      <dsp:nvSpPr>
        <dsp:cNvPr id="0" name=""/>
        <dsp:cNvSpPr/>
      </dsp:nvSpPr>
      <dsp:spPr>
        <a:xfrm>
          <a:off x="0" y="0"/>
          <a:ext cx="8894681" cy="893797"/>
        </a:xfrm>
        <a:prstGeom prst="roundRect">
          <a:avLst>
            <a:gd name="adj" fmla="val 10000"/>
          </a:avLst>
        </a:prstGeom>
        <a:solidFill>
          <a:srgbClr val="FF7A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dirty="0">
              <a:solidFill>
                <a:srgbClr val="FFFFFF"/>
              </a:solidFill>
              <a:latin typeface="Calibri" panose="020F0502020204030204" pitchFamily="34" charset="0"/>
              <a:cs typeface="Calibri" panose="020F0502020204030204" pitchFamily="34" charset="0"/>
            </a:rPr>
            <a:t>Formula 1 is the pinnacle of motorsport, with races held worldwide since 1950 and the fastest cars competing on iconic circuits.</a:t>
          </a:r>
          <a:endParaRPr lang="en-US" sz="1800" kern="1200" dirty="0">
            <a:solidFill>
              <a:srgbClr val="FFFFFF"/>
            </a:solidFill>
            <a:latin typeface="Calibri" panose="020F0502020204030204" pitchFamily="34" charset="0"/>
            <a:cs typeface="Calibri" panose="020F0502020204030204" pitchFamily="34" charset="0"/>
          </a:endParaRPr>
        </a:p>
      </dsp:txBody>
      <dsp:txXfrm>
        <a:off x="26178" y="26178"/>
        <a:ext cx="7825630" cy="841441"/>
      </dsp:txXfrm>
    </dsp:sp>
    <dsp:sp modelId="{CF371ED9-A0D0-6C49-90EB-8DE887F15BD0}">
      <dsp:nvSpPr>
        <dsp:cNvPr id="0" name=""/>
        <dsp:cNvSpPr/>
      </dsp:nvSpPr>
      <dsp:spPr>
        <a:xfrm>
          <a:off x="664213" y="1017935"/>
          <a:ext cx="8894681" cy="893797"/>
        </a:xfrm>
        <a:prstGeom prst="roundRect">
          <a:avLst>
            <a:gd name="adj" fmla="val 10000"/>
          </a:avLst>
        </a:prstGeom>
        <a:solidFill>
          <a:srgbClr val="E85D04"/>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dirty="0">
              <a:latin typeface="Calibri" panose="020F0502020204030204" pitchFamily="34" charset="0"/>
              <a:cs typeface="Calibri" panose="020F0502020204030204" pitchFamily="34" charset="0"/>
            </a:rPr>
            <a:t>Over 75 years, regulation changes, safety improvements and technological advances have transformed performance, making historical comparisons challenging.</a:t>
          </a:r>
          <a:endParaRPr lang="en-US" sz="1700" kern="1200" dirty="0">
            <a:latin typeface="Calibri" panose="020F0502020204030204" pitchFamily="34" charset="0"/>
            <a:cs typeface="Calibri" panose="020F0502020204030204" pitchFamily="34" charset="0"/>
          </a:endParaRPr>
        </a:p>
      </dsp:txBody>
      <dsp:txXfrm>
        <a:off x="690391" y="1044113"/>
        <a:ext cx="7597143" cy="841441"/>
      </dsp:txXfrm>
    </dsp:sp>
    <dsp:sp modelId="{FC40926D-7455-5440-A1A0-8B0F52EC280B}">
      <dsp:nvSpPr>
        <dsp:cNvPr id="0" name=""/>
        <dsp:cNvSpPr/>
      </dsp:nvSpPr>
      <dsp:spPr>
        <a:xfrm>
          <a:off x="1328426" y="2035871"/>
          <a:ext cx="8894681" cy="893797"/>
        </a:xfrm>
        <a:prstGeom prst="roundRect">
          <a:avLst>
            <a:gd name="adj" fmla="val 10000"/>
          </a:avLst>
        </a:prstGeom>
        <a:solidFill>
          <a:srgbClr val="FF7A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dirty="0">
              <a:latin typeface="Calibri" panose="020F0502020204030204" pitchFamily="34" charset="0"/>
              <a:cs typeface="Calibri" panose="020F0502020204030204" pitchFamily="34" charset="0"/>
            </a:rPr>
            <a:t>Points systems have evolved from the original 8-6-4-3-2 format in the 1950s to today’s 25-18-15-12-10-8-6-4-2-1 system, shaping how success is measured.</a:t>
          </a:r>
          <a:endParaRPr lang="en-US" sz="1800" kern="1200" dirty="0">
            <a:latin typeface="Calibri" panose="020F0502020204030204" pitchFamily="34" charset="0"/>
            <a:cs typeface="Calibri" panose="020F0502020204030204" pitchFamily="34" charset="0"/>
          </a:endParaRPr>
        </a:p>
      </dsp:txBody>
      <dsp:txXfrm>
        <a:off x="1354604" y="2062049"/>
        <a:ext cx="7597143" cy="841441"/>
      </dsp:txXfrm>
    </dsp:sp>
    <dsp:sp modelId="{BBEBFAC0-8FCA-B347-960B-20C65355D860}">
      <dsp:nvSpPr>
        <dsp:cNvPr id="0" name=""/>
        <dsp:cNvSpPr/>
      </dsp:nvSpPr>
      <dsp:spPr>
        <a:xfrm>
          <a:off x="1992639" y="3053807"/>
          <a:ext cx="8894681" cy="893797"/>
        </a:xfrm>
        <a:prstGeom prst="roundRect">
          <a:avLst>
            <a:gd name="adj" fmla="val 10000"/>
          </a:avLst>
        </a:prstGeom>
        <a:solidFill>
          <a:srgbClr val="E85D04"/>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dirty="0">
              <a:solidFill>
                <a:schemeClr val="bg1"/>
              </a:solidFill>
              <a:latin typeface="Calibri" panose="020F0502020204030204" pitchFamily="34" charset="0"/>
              <a:cs typeface="Calibri" panose="020F0502020204030204" pitchFamily="34" charset="0"/>
            </a:rPr>
            <a:t>Modern data analysis reveals performance patterns, driver dominance and circuit-specific trends that were previously hidden.</a:t>
          </a:r>
          <a:endParaRPr lang="en-US" sz="1800" kern="1200" dirty="0">
            <a:solidFill>
              <a:schemeClr val="bg1"/>
            </a:solidFill>
            <a:latin typeface="Calibri" panose="020F0502020204030204" pitchFamily="34" charset="0"/>
            <a:cs typeface="Calibri" panose="020F0502020204030204" pitchFamily="34" charset="0"/>
          </a:endParaRPr>
        </a:p>
      </dsp:txBody>
      <dsp:txXfrm>
        <a:off x="2018817" y="3079985"/>
        <a:ext cx="7597143" cy="841441"/>
      </dsp:txXfrm>
    </dsp:sp>
    <dsp:sp modelId="{805CCFC7-0967-4E41-B682-B823D8160A0D}">
      <dsp:nvSpPr>
        <dsp:cNvPr id="0" name=""/>
        <dsp:cNvSpPr/>
      </dsp:nvSpPr>
      <dsp:spPr>
        <a:xfrm>
          <a:off x="2656852" y="4071742"/>
          <a:ext cx="8894681" cy="893797"/>
        </a:xfrm>
        <a:prstGeom prst="roundRect">
          <a:avLst>
            <a:gd name="adj" fmla="val 10000"/>
          </a:avLst>
        </a:prstGeom>
        <a:solidFill>
          <a:srgbClr val="C2410C"/>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dirty="0">
              <a:solidFill>
                <a:schemeClr val="bg1"/>
              </a:solidFill>
              <a:latin typeface="Calibri" panose="020F0502020204030204" pitchFamily="34" charset="0"/>
              <a:cs typeface="Calibri" panose="020F0502020204030204" pitchFamily="34" charset="0"/>
            </a:rPr>
            <a:t>This project combines race results, qualifying data and driver standings from 1950–2024 to uncover new insights into Formula 1 history.</a:t>
          </a:r>
          <a:endParaRPr lang="en-US" sz="1800" kern="1200" dirty="0">
            <a:solidFill>
              <a:schemeClr val="bg1"/>
            </a:solidFill>
            <a:latin typeface="Calibri" panose="020F0502020204030204" pitchFamily="34" charset="0"/>
            <a:cs typeface="Calibri" panose="020F0502020204030204" pitchFamily="34" charset="0"/>
          </a:endParaRPr>
        </a:p>
      </dsp:txBody>
      <dsp:txXfrm>
        <a:off x="2683030" y="4097920"/>
        <a:ext cx="7597143" cy="841441"/>
      </dsp:txXfrm>
    </dsp:sp>
    <dsp:sp modelId="{CC527BE3-A544-164C-AA7E-0F361F7A490D}">
      <dsp:nvSpPr>
        <dsp:cNvPr id="0" name=""/>
        <dsp:cNvSpPr/>
      </dsp:nvSpPr>
      <dsp:spPr>
        <a:xfrm>
          <a:off x="8313713" y="652968"/>
          <a:ext cx="580968" cy="580968"/>
        </a:xfrm>
        <a:prstGeom prst="downArrow">
          <a:avLst>
            <a:gd name="adj1" fmla="val 55000"/>
            <a:gd name="adj2" fmla="val 45000"/>
          </a:avLst>
        </a:prstGeom>
        <a:solidFill>
          <a:srgbClr val="FFD6B5">
            <a:alpha val="89804"/>
          </a:srgb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8444431" y="652968"/>
        <a:ext cx="319532" cy="437178"/>
      </dsp:txXfrm>
    </dsp:sp>
    <dsp:sp modelId="{90CC0B38-CE68-CE4D-8F54-133611A7426E}">
      <dsp:nvSpPr>
        <dsp:cNvPr id="0" name=""/>
        <dsp:cNvSpPr/>
      </dsp:nvSpPr>
      <dsp:spPr>
        <a:xfrm>
          <a:off x="8977926" y="1670904"/>
          <a:ext cx="580968" cy="580968"/>
        </a:xfrm>
        <a:prstGeom prst="downArrow">
          <a:avLst>
            <a:gd name="adj1" fmla="val 55000"/>
            <a:gd name="adj2" fmla="val 45000"/>
          </a:avLst>
        </a:prstGeom>
        <a:solidFill>
          <a:srgbClr val="FFD6B5">
            <a:alpha val="90000"/>
          </a:srgb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9108644" y="1670904"/>
        <a:ext cx="319532" cy="437178"/>
      </dsp:txXfrm>
    </dsp:sp>
    <dsp:sp modelId="{738EBB29-273D-AD4A-B59B-E51B7C4CD3C1}">
      <dsp:nvSpPr>
        <dsp:cNvPr id="0" name=""/>
        <dsp:cNvSpPr/>
      </dsp:nvSpPr>
      <dsp:spPr>
        <a:xfrm>
          <a:off x="9642139" y="2673943"/>
          <a:ext cx="580968" cy="580968"/>
        </a:xfrm>
        <a:prstGeom prst="downArrow">
          <a:avLst>
            <a:gd name="adj1" fmla="val 55000"/>
            <a:gd name="adj2" fmla="val 45000"/>
          </a:avLst>
        </a:prstGeom>
        <a:solidFill>
          <a:srgbClr val="FFD6B5">
            <a:alpha val="90000"/>
          </a:srgb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9772857" y="2673943"/>
        <a:ext cx="319532" cy="437178"/>
      </dsp:txXfrm>
    </dsp:sp>
    <dsp:sp modelId="{483AB64C-617D-5A44-83B7-9A60BA4BD273}">
      <dsp:nvSpPr>
        <dsp:cNvPr id="0" name=""/>
        <dsp:cNvSpPr/>
      </dsp:nvSpPr>
      <dsp:spPr>
        <a:xfrm>
          <a:off x="10306352" y="3701810"/>
          <a:ext cx="580968" cy="580968"/>
        </a:xfrm>
        <a:prstGeom prst="downArrow">
          <a:avLst>
            <a:gd name="adj1" fmla="val 55000"/>
            <a:gd name="adj2" fmla="val 45000"/>
          </a:avLst>
        </a:prstGeom>
        <a:solidFill>
          <a:srgbClr val="FFD6B5">
            <a:alpha val="90000"/>
          </a:srgb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10437070" y="3701810"/>
        <a:ext cx="319532" cy="437178"/>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07072E-2EB5-6445-8A1C-F13AD3122FF6}" type="datetimeFigureOut">
              <a:rPr lang="en-US" smtClean="0"/>
              <a:t>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5E5820-BC9C-3E4A-A254-F87CEC13BC2F}" type="slidenum">
              <a:rPr lang="en-US" smtClean="0"/>
              <a:t>‹#›</a:t>
            </a:fld>
            <a:endParaRPr lang="en-US"/>
          </a:p>
        </p:txBody>
      </p:sp>
    </p:spTree>
    <p:extLst>
      <p:ext uri="{BB962C8B-B14F-4D97-AF65-F5344CB8AC3E}">
        <p14:creationId xmlns:p14="http://schemas.microsoft.com/office/powerpoint/2010/main" val="2588543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 on some of these points, such as how these weren’t the only two points systems used and there used to be a point for fastest lap used in different eras. </a:t>
            </a:r>
          </a:p>
          <a:p>
            <a:endParaRPr lang="en-US" dirty="0"/>
          </a:p>
          <a:p>
            <a:r>
              <a:rPr lang="en-US" dirty="0"/>
              <a:t>Potentially talk about the data used and where it was from. I used </a:t>
            </a:r>
            <a:r>
              <a:rPr lang="en-GB" sz="1200" b="0" i="0" kern="1200" dirty="0">
                <a:solidFill>
                  <a:schemeClr val="tx1"/>
                </a:solidFill>
                <a:effectLst/>
                <a:latin typeface="+mn-lt"/>
                <a:ea typeface="+mn-ea"/>
                <a:cs typeface="+mn-cs"/>
              </a:rPr>
              <a:t>raw data from Kaggle which was scraped from an F1 data API, whilst scraping some of my own f1 data myself.</a:t>
            </a:r>
          </a:p>
        </p:txBody>
      </p:sp>
      <p:sp>
        <p:nvSpPr>
          <p:cNvPr id="4" name="Slide Number Placeholder 3"/>
          <p:cNvSpPr>
            <a:spLocks noGrp="1"/>
          </p:cNvSpPr>
          <p:nvPr>
            <p:ph type="sldNum" sz="quarter" idx="5"/>
          </p:nvPr>
        </p:nvSpPr>
        <p:spPr/>
        <p:txBody>
          <a:bodyPr/>
          <a:lstStyle/>
          <a:p>
            <a:fld id="{A25E5820-BC9C-3E4A-A254-F87CEC13BC2F}" type="slidenum">
              <a:rPr lang="en-US" smtClean="0"/>
              <a:t>2</a:t>
            </a:fld>
            <a:endParaRPr lang="en-US"/>
          </a:p>
        </p:txBody>
      </p:sp>
    </p:spTree>
    <p:extLst>
      <p:ext uri="{BB962C8B-B14F-4D97-AF65-F5344CB8AC3E}">
        <p14:creationId xmlns:p14="http://schemas.microsoft.com/office/powerpoint/2010/main" val="16207419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analysis compares qualifying and finishing positions to identify drivers who consistently outperform expectations, highlighting race craft beyond pure speed.</a:t>
            </a:r>
          </a:p>
          <a:p>
            <a:endParaRPr lang="en-GB" dirty="0"/>
          </a:p>
          <a:p>
            <a:r>
              <a:rPr lang="en-GB" dirty="0"/>
              <a:t>By applying experience thresholds, requiring at least 100 career races and 10 appearances at a circuit, the results focus on meaningful patterns such as consistent overperformers and track specialists, rather than random variation.</a:t>
            </a:r>
          </a:p>
          <a:p>
            <a:endParaRPr lang="en-US" dirty="0"/>
          </a:p>
          <a:p>
            <a:r>
              <a:rPr lang="en-US" dirty="0"/>
              <a:t>For one of the best drivers of all time it is a surprise that senna has lost so many positions. I will explore this in the next slides’ analysis of finishing positions heatmap.</a:t>
            </a:r>
          </a:p>
        </p:txBody>
      </p:sp>
      <p:sp>
        <p:nvSpPr>
          <p:cNvPr id="4" name="Slide Number Placeholder 3"/>
          <p:cNvSpPr>
            <a:spLocks noGrp="1"/>
          </p:cNvSpPr>
          <p:nvPr>
            <p:ph type="sldNum" sz="quarter" idx="5"/>
          </p:nvPr>
        </p:nvSpPr>
        <p:spPr/>
        <p:txBody>
          <a:bodyPr/>
          <a:lstStyle/>
          <a:p>
            <a:fld id="{A25E5820-BC9C-3E4A-A254-F87CEC13BC2F}" type="slidenum">
              <a:rPr lang="en-US" smtClean="0"/>
              <a:t>3</a:t>
            </a:fld>
            <a:endParaRPr lang="en-US"/>
          </a:p>
        </p:txBody>
      </p:sp>
    </p:spTree>
    <p:extLst>
      <p:ext uri="{BB962C8B-B14F-4D97-AF65-F5344CB8AC3E}">
        <p14:creationId xmlns:p14="http://schemas.microsoft.com/office/powerpoint/2010/main" val="2880045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These heatmaps build on the previous slide by moving from average position changes to the full distribution of finishing results, allowing us to compare consistency and variability in race performance over time.</a:t>
            </a:r>
          </a:p>
          <a:p>
            <a:endParaRPr lang="en-GB" dirty="0"/>
          </a:p>
          <a:p>
            <a:r>
              <a:rPr lang="en-GB" dirty="0"/>
              <a:t>Senna’s heatmap shows several extreme outliers, such as retirements and poor finishes, which help explain why his average positions lost from qualifying appear higher despite his overall dominance, while Salo’s more evenly spread results reflect the typical variability of a midfield career.</a:t>
            </a:r>
          </a:p>
          <a:p>
            <a:endParaRPr lang="en-US" dirty="0"/>
          </a:p>
        </p:txBody>
      </p:sp>
      <p:sp>
        <p:nvSpPr>
          <p:cNvPr id="4" name="Slide Number Placeholder 3"/>
          <p:cNvSpPr>
            <a:spLocks noGrp="1"/>
          </p:cNvSpPr>
          <p:nvPr>
            <p:ph type="sldNum" sz="quarter" idx="5"/>
          </p:nvPr>
        </p:nvSpPr>
        <p:spPr/>
        <p:txBody>
          <a:bodyPr/>
          <a:lstStyle/>
          <a:p>
            <a:fld id="{A25E5820-BC9C-3E4A-A254-F87CEC13BC2F}" type="slidenum">
              <a:rPr lang="en-US" smtClean="0"/>
              <a:t>4</a:t>
            </a:fld>
            <a:endParaRPr lang="en-US"/>
          </a:p>
        </p:txBody>
      </p:sp>
    </p:spTree>
    <p:extLst>
      <p:ext uri="{BB962C8B-B14F-4D97-AF65-F5344CB8AC3E}">
        <p14:creationId xmlns:p14="http://schemas.microsoft.com/office/powerpoint/2010/main" val="1668378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analysis reapplies the modern Formula 1 points system to historical race results to test whether drivers who never scored points under older systems would be rewarded today.</a:t>
            </a:r>
          </a:p>
          <a:p>
            <a:endParaRPr lang="en-GB" dirty="0"/>
          </a:p>
          <a:p>
            <a:r>
              <a:rPr lang="en-GB" dirty="0"/>
              <a:t>The results show that scoring rules strongly influence how careers are judged, with several midfield drivers gaining recognition they never received under earlier systems.</a:t>
            </a:r>
          </a:p>
          <a:p>
            <a:endParaRPr lang="en-US" dirty="0"/>
          </a:p>
        </p:txBody>
      </p:sp>
      <p:sp>
        <p:nvSpPr>
          <p:cNvPr id="4" name="Slide Number Placeholder 3"/>
          <p:cNvSpPr>
            <a:spLocks noGrp="1"/>
          </p:cNvSpPr>
          <p:nvPr>
            <p:ph type="sldNum" sz="quarter" idx="5"/>
          </p:nvPr>
        </p:nvSpPr>
        <p:spPr/>
        <p:txBody>
          <a:bodyPr/>
          <a:lstStyle/>
          <a:p>
            <a:fld id="{A25E5820-BC9C-3E4A-A254-F87CEC13BC2F}" type="slidenum">
              <a:rPr lang="en-US" smtClean="0"/>
              <a:t>5</a:t>
            </a:fld>
            <a:endParaRPr lang="en-US"/>
          </a:p>
        </p:txBody>
      </p:sp>
    </p:spTree>
    <p:extLst>
      <p:ext uri="{BB962C8B-B14F-4D97-AF65-F5344CB8AC3E}">
        <p14:creationId xmlns:p14="http://schemas.microsoft.com/office/powerpoint/2010/main" val="3050727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Era-adjusted Z-scores standardise driver performance within each era, removing inflation caused by modern scoring systems and longer seasons.</a:t>
            </a:r>
          </a:p>
          <a:p>
            <a:endParaRPr lang="en-GB" dirty="0"/>
          </a:p>
          <a:p>
            <a:r>
              <a:rPr lang="en-GB" dirty="0"/>
              <a:t>Rather than testing statistical significance, this approach provides a clear, descriptive way to compare dominance in different competitive contexts.</a:t>
            </a:r>
          </a:p>
          <a:p>
            <a:endParaRPr lang="en-US" dirty="0"/>
          </a:p>
        </p:txBody>
      </p:sp>
      <p:sp>
        <p:nvSpPr>
          <p:cNvPr id="4" name="Slide Number Placeholder 3"/>
          <p:cNvSpPr>
            <a:spLocks noGrp="1"/>
          </p:cNvSpPr>
          <p:nvPr>
            <p:ph type="sldNum" sz="quarter" idx="5"/>
          </p:nvPr>
        </p:nvSpPr>
        <p:spPr/>
        <p:txBody>
          <a:bodyPr/>
          <a:lstStyle/>
          <a:p>
            <a:fld id="{A25E5820-BC9C-3E4A-A254-F87CEC13BC2F}" type="slidenum">
              <a:rPr lang="en-US" smtClean="0"/>
              <a:t>6</a:t>
            </a:fld>
            <a:endParaRPr lang="en-US"/>
          </a:p>
        </p:txBody>
      </p:sp>
    </p:spTree>
    <p:extLst>
      <p:ext uri="{BB962C8B-B14F-4D97-AF65-F5344CB8AC3E}">
        <p14:creationId xmlns:p14="http://schemas.microsoft.com/office/powerpoint/2010/main" val="3644217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overall upward trend reflects major advances in car technology, while the vertical markers show how regulation and layout changes often create sudden shifts in performance.</a:t>
            </a:r>
          </a:p>
          <a:p>
            <a:endParaRPr lang="en-GB" dirty="0"/>
          </a:p>
          <a:p>
            <a:r>
              <a:rPr lang="en-GB" dirty="0"/>
              <a:t>The highlighted wet years explain short-term drops, showing how conditions can temporarily override car pace.</a:t>
            </a:r>
          </a:p>
          <a:p>
            <a:endParaRPr lang="en-US" dirty="0"/>
          </a:p>
        </p:txBody>
      </p:sp>
      <p:sp>
        <p:nvSpPr>
          <p:cNvPr id="4" name="Slide Number Placeholder 3"/>
          <p:cNvSpPr>
            <a:spLocks noGrp="1"/>
          </p:cNvSpPr>
          <p:nvPr>
            <p:ph type="sldNum" sz="quarter" idx="5"/>
          </p:nvPr>
        </p:nvSpPr>
        <p:spPr/>
        <p:txBody>
          <a:bodyPr/>
          <a:lstStyle/>
          <a:p>
            <a:fld id="{A25E5820-BC9C-3E4A-A254-F87CEC13BC2F}" type="slidenum">
              <a:rPr lang="en-US" smtClean="0"/>
              <a:t>7</a:t>
            </a:fld>
            <a:endParaRPr lang="en-US"/>
          </a:p>
        </p:txBody>
      </p:sp>
    </p:spTree>
    <p:extLst>
      <p:ext uri="{BB962C8B-B14F-4D97-AF65-F5344CB8AC3E}">
        <p14:creationId xmlns:p14="http://schemas.microsoft.com/office/powerpoint/2010/main" val="10556089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41B1C-B9EC-0D4E-4545-D9C8F88337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D992A8-4A53-82E9-D45D-3414FDD290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C07F6E-FC34-B2C6-63B8-64DBC6CE4318}"/>
              </a:ext>
            </a:extLst>
          </p:cNvPr>
          <p:cNvSpPr>
            <a:spLocks noGrp="1"/>
          </p:cNvSpPr>
          <p:nvPr>
            <p:ph type="body" idx="1"/>
          </p:nvPr>
        </p:nvSpPr>
        <p:spPr/>
        <p:txBody>
          <a:bodyPr/>
          <a:lstStyle/>
          <a:p>
            <a:r>
              <a:rPr lang="en-GB" dirty="0"/>
              <a:t>Unlike Monza, Monaco’s layout has changed very little over time, which makes it a useful control case.</a:t>
            </a:r>
          </a:p>
          <a:p>
            <a:endParaRPr lang="en-GB" dirty="0"/>
          </a:p>
          <a:p>
            <a:endParaRPr lang="en-GB" dirty="0"/>
          </a:p>
        </p:txBody>
      </p:sp>
      <p:sp>
        <p:nvSpPr>
          <p:cNvPr id="4" name="Slide Number Placeholder 3">
            <a:extLst>
              <a:ext uri="{FF2B5EF4-FFF2-40B4-BE49-F238E27FC236}">
                <a16:creationId xmlns:a16="http://schemas.microsoft.com/office/drawing/2014/main" id="{9C7384F7-F19E-4B2B-6724-EE98625FCFD3}"/>
              </a:ext>
            </a:extLst>
          </p:cNvPr>
          <p:cNvSpPr>
            <a:spLocks noGrp="1"/>
          </p:cNvSpPr>
          <p:nvPr>
            <p:ph type="sldNum" sz="quarter" idx="5"/>
          </p:nvPr>
        </p:nvSpPr>
        <p:spPr/>
        <p:txBody>
          <a:bodyPr/>
          <a:lstStyle/>
          <a:p>
            <a:fld id="{A25E5820-BC9C-3E4A-A254-F87CEC13BC2F}" type="slidenum">
              <a:rPr lang="en-US" smtClean="0"/>
              <a:t>8</a:t>
            </a:fld>
            <a:endParaRPr lang="en-US"/>
          </a:p>
        </p:txBody>
      </p:sp>
    </p:spTree>
    <p:extLst>
      <p:ext uri="{BB962C8B-B14F-4D97-AF65-F5344CB8AC3E}">
        <p14:creationId xmlns:p14="http://schemas.microsoft.com/office/powerpoint/2010/main" val="8996218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One of the main challenges was that early qualifying data wasn’t available in a consistent format, so I had to scrape historical results and integrate them with the modern dataset.</a:t>
            </a:r>
          </a:p>
          <a:p>
            <a:endParaRPr lang="en-GB" dirty="0"/>
          </a:p>
          <a:p>
            <a:r>
              <a:rPr lang="en-GB" dirty="0"/>
              <a:t>Another challenge was handling lap times stored as strings in different formats. I wrote a conversion function to standardise everything into seconds, which made it possible to calculate average speed and compare performance fairly across different circuits and eras.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Calibri" panose="020F0502020204030204" pitchFamily="34" charset="0"/>
              <a:cs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A25E5820-BC9C-3E4A-A254-F87CEC13BC2F}" type="slidenum">
              <a:rPr lang="en-US" smtClean="0"/>
              <a:t>9</a:t>
            </a:fld>
            <a:endParaRPr lang="en-US"/>
          </a:p>
        </p:txBody>
      </p:sp>
    </p:spTree>
    <p:extLst>
      <p:ext uri="{BB962C8B-B14F-4D97-AF65-F5344CB8AC3E}">
        <p14:creationId xmlns:p14="http://schemas.microsoft.com/office/powerpoint/2010/main" val="32935732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25E5820-BC9C-3E4A-A254-F87CEC13BC2F}" type="slidenum">
              <a:rPr lang="en-US" smtClean="0"/>
              <a:t>10</a:t>
            </a:fld>
            <a:endParaRPr lang="en-US"/>
          </a:p>
        </p:txBody>
      </p:sp>
    </p:spTree>
    <p:extLst>
      <p:ext uri="{BB962C8B-B14F-4D97-AF65-F5344CB8AC3E}">
        <p14:creationId xmlns:p14="http://schemas.microsoft.com/office/powerpoint/2010/main" val="3271650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0BAF9-2FDD-8122-BEB7-9528E2396B9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BB16A6A-727C-2BBC-4450-07E78DAEDD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EE7CB65-67D6-F89A-1353-192CF6151F1A}"/>
              </a:ext>
            </a:extLst>
          </p:cNvPr>
          <p:cNvSpPr>
            <a:spLocks noGrp="1"/>
          </p:cNvSpPr>
          <p:nvPr>
            <p:ph type="dt" sz="half" idx="10"/>
          </p:nvPr>
        </p:nvSpPr>
        <p:spPr/>
        <p:txBody>
          <a:bodyPr/>
          <a:lstStyle/>
          <a:p>
            <a:fld id="{5F43D1F6-FD4C-E74D-9E2E-F1514F44D936}" type="datetimeFigureOut">
              <a:rPr lang="en-US" smtClean="0"/>
              <a:t>1/8/26</a:t>
            </a:fld>
            <a:endParaRPr lang="en-US"/>
          </a:p>
        </p:txBody>
      </p:sp>
      <p:sp>
        <p:nvSpPr>
          <p:cNvPr id="5" name="Footer Placeholder 4">
            <a:extLst>
              <a:ext uri="{FF2B5EF4-FFF2-40B4-BE49-F238E27FC236}">
                <a16:creationId xmlns:a16="http://schemas.microsoft.com/office/drawing/2014/main" id="{CBF00266-7774-8B1F-A00A-448D90C299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65AC32-989E-0225-D033-571C68BCFACA}"/>
              </a:ext>
            </a:extLst>
          </p:cNvPr>
          <p:cNvSpPr>
            <a:spLocks noGrp="1"/>
          </p:cNvSpPr>
          <p:nvPr>
            <p:ph type="sldNum" sz="quarter" idx="12"/>
          </p:nvPr>
        </p:nvSpPr>
        <p:spPr/>
        <p:txBody>
          <a:bodyPr/>
          <a:lstStyle/>
          <a:p>
            <a:fld id="{A7D7FF97-C98F-A043-AE25-2CFA16FAECFD}" type="slidenum">
              <a:rPr lang="en-US" smtClean="0"/>
              <a:t>‹#›</a:t>
            </a:fld>
            <a:endParaRPr lang="en-US"/>
          </a:p>
        </p:txBody>
      </p:sp>
    </p:spTree>
    <p:extLst>
      <p:ext uri="{BB962C8B-B14F-4D97-AF65-F5344CB8AC3E}">
        <p14:creationId xmlns:p14="http://schemas.microsoft.com/office/powerpoint/2010/main" val="1755972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0F22D-38A7-6296-E98C-4BFF9FC7C17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906EADF-AECD-93AF-2E72-57B69CE67D8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DA6B71-68D0-8B49-CC83-F29D17FC2C34}"/>
              </a:ext>
            </a:extLst>
          </p:cNvPr>
          <p:cNvSpPr>
            <a:spLocks noGrp="1"/>
          </p:cNvSpPr>
          <p:nvPr>
            <p:ph type="dt" sz="half" idx="10"/>
          </p:nvPr>
        </p:nvSpPr>
        <p:spPr/>
        <p:txBody>
          <a:bodyPr/>
          <a:lstStyle/>
          <a:p>
            <a:fld id="{5F43D1F6-FD4C-E74D-9E2E-F1514F44D936}" type="datetimeFigureOut">
              <a:rPr lang="en-US" smtClean="0"/>
              <a:t>1/8/26</a:t>
            </a:fld>
            <a:endParaRPr lang="en-US"/>
          </a:p>
        </p:txBody>
      </p:sp>
      <p:sp>
        <p:nvSpPr>
          <p:cNvPr id="5" name="Footer Placeholder 4">
            <a:extLst>
              <a:ext uri="{FF2B5EF4-FFF2-40B4-BE49-F238E27FC236}">
                <a16:creationId xmlns:a16="http://schemas.microsoft.com/office/drawing/2014/main" id="{9BC3EE37-5F86-64CE-3E0E-74A808D6E9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99ECAF-1949-49A4-F21B-C13A9FD3D855}"/>
              </a:ext>
            </a:extLst>
          </p:cNvPr>
          <p:cNvSpPr>
            <a:spLocks noGrp="1"/>
          </p:cNvSpPr>
          <p:nvPr>
            <p:ph type="sldNum" sz="quarter" idx="12"/>
          </p:nvPr>
        </p:nvSpPr>
        <p:spPr/>
        <p:txBody>
          <a:bodyPr/>
          <a:lstStyle/>
          <a:p>
            <a:fld id="{A7D7FF97-C98F-A043-AE25-2CFA16FAECFD}" type="slidenum">
              <a:rPr lang="en-US" smtClean="0"/>
              <a:t>‹#›</a:t>
            </a:fld>
            <a:endParaRPr lang="en-US"/>
          </a:p>
        </p:txBody>
      </p:sp>
    </p:spTree>
    <p:extLst>
      <p:ext uri="{BB962C8B-B14F-4D97-AF65-F5344CB8AC3E}">
        <p14:creationId xmlns:p14="http://schemas.microsoft.com/office/powerpoint/2010/main" val="1079025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C36EE-FDC6-F203-511A-1E7F94ADFAE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696EA92-6C3E-7A5F-6025-815504C08D7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BDF3CE5-2E2B-AAEC-5FE0-4247627DBEA9}"/>
              </a:ext>
            </a:extLst>
          </p:cNvPr>
          <p:cNvSpPr>
            <a:spLocks noGrp="1"/>
          </p:cNvSpPr>
          <p:nvPr>
            <p:ph type="dt" sz="half" idx="10"/>
          </p:nvPr>
        </p:nvSpPr>
        <p:spPr/>
        <p:txBody>
          <a:bodyPr/>
          <a:lstStyle/>
          <a:p>
            <a:fld id="{5F43D1F6-FD4C-E74D-9E2E-F1514F44D936}" type="datetimeFigureOut">
              <a:rPr lang="en-US" smtClean="0"/>
              <a:t>1/8/26</a:t>
            </a:fld>
            <a:endParaRPr lang="en-US"/>
          </a:p>
        </p:txBody>
      </p:sp>
      <p:sp>
        <p:nvSpPr>
          <p:cNvPr id="5" name="Footer Placeholder 4">
            <a:extLst>
              <a:ext uri="{FF2B5EF4-FFF2-40B4-BE49-F238E27FC236}">
                <a16:creationId xmlns:a16="http://schemas.microsoft.com/office/drawing/2014/main" id="{EC014715-8E59-5510-68E9-1DC1EF2657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40BD3B-AA9D-5801-E3A1-33D98A476320}"/>
              </a:ext>
            </a:extLst>
          </p:cNvPr>
          <p:cNvSpPr>
            <a:spLocks noGrp="1"/>
          </p:cNvSpPr>
          <p:nvPr>
            <p:ph type="sldNum" sz="quarter" idx="12"/>
          </p:nvPr>
        </p:nvSpPr>
        <p:spPr/>
        <p:txBody>
          <a:bodyPr/>
          <a:lstStyle/>
          <a:p>
            <a:fld id="{A7D7FF97-C98F-A043-AE25-2CFA16FAECFD}" type="slidenum">
              <a:rPr lang="en-US" smtClean="0"/>
              <a:t>‹#›</a:t>
            </a:fld>
            <a:endParaRPr lang="en-US"/>
          </a:p>
        </p:txBody>
      </p:sp>
    </p:spTree>
    <p:extLst>
      <p:ext uri="{BB962C8B-B14F-4D97-AF65-F5344CB8AC3E}">
        <p14:creationId xmlns:p14="http://schemas.microsoft.com/office/powerpoint/2010/main" val="40067310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30280-B28E-1436-7B21-3D93BE46F1E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94D7E6D-21F6-6579-23AE-37F5A3948C1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43C16D2-F3F5-8243-0AFA-1D7555ACB5E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5F56FA0-C0C7-9608-6628-6B45B1652A74}"/>
              </a:ext>
            </a:extLst>
          </p:cNvPr>
          <p:cNvSpPr>
            <a:spLocks noGrp="1"/>
          </p:cNvSpPr>
          <p:nvPr>
            <p:ph type="dt" sz="half" idx="10"/>
          </p:nvPr>
        </p:nvSpPr>
        <p:spPr/>
        <p:txBody>
          <a:bodyPr/>
          <a:lstStyle/>
          <a:p>
            <a:fld id="{5F43D1F6-FD4C-E74D-9E2E-F1514F44D936}" type="datetimeFigureOut">
              <a:rPr lang="en-US" smtClean="0"/>
              <a:t>1/8/26</a:t>
            </a:fld>
            <a:endParaRPr lang="en-US"/>
          </a:p>
        </p:txBody>
      </p:sp>
      <p:sp>
        <p:nvSpPr>
          <p:cNvPr id="6" name="Footer Placeholder 5">
            <a:extLst>
              <a:ext uri="{FF2B5EF4-FFF2-40B4-BE49-F238E27FC236}">
                <a16:creationId xmlns:a16="http://schemas.microsoft.com/office/drawing/2014/main" id="{A7C0F70C-9990-2925-4EB0-8B692C0C5D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000C66-A0A9-3CFE-B88B-7153DCE8AF96}"/>
              </a:ext>
            </a:extLst>
          </p:cNvPr>
          <p:cNvSpPr>
            <a:spLocks noGrp="1"/>
          </p:cNvSpPr>
          <p:nvPr>
            <p:ph type="sldNum" sz="quarter" idx="12"/>
          </p:nvPr>
        </p:nvSpPr>
        <p:spPr/>
        <p:txBody>
          <a:bodyPr/>
          <a:lstStyle/>
          <a:p>
            <a:fld id="{A7D7FF97-C98F-A043-AE25-2CFA16FAECFD}" type="slidenum">
              <a:rPr lang="en-US" smtClean="0"/>
              <a:t>‹#›</a:t>
            </a:fld>
            <a:endParaRPr lang="en-US"/>
          </a:p>
        </p:txBody>
      </p:sp>
    </p:spTree>
    <p:extLst>
      <p:ext uri="{BB962C8B-B14F-4D97-AF65-F5344CB8AC3E}">
        <p14:creationId xmlns:p14="http://schemas.microsoft.com/office/powerpoint/2010/main" val="2517264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A91F0-0FD9-193E-6085-1177114CE6F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97945C9-7FD3-8AB1-049F-89ED716C30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8CABBC4-4C50-78D6-BA98-CBBE0EEA89F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9072FC1-F0D3-99FE-C27F-8DD9B6D67B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B0C00C4-7477-F14A-7563-A07F4A74F9B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DBAC9EA-E2C1-FD5B-AF9C-84001604F3B1}"/>
              </a:ext>
            </a:extLst>
          </p:cNvPr>
          <p:cNvSpPr>
            <a:spLocks noGrp="1"/>
          </p:cNvSpPr>
          <p:nvPr>
            <p:ph type="dt" sz="half" idx="10"/>
          </p:nvPr>
        </p:nvSpPr>
        <p:spPr/>
        <p:txBody>
          <a:bodyPr/>
          <a:lstStyle/>
          <a:p>
            <a:fld id="{5F43D1F6-FD4C-E74D-9E2E-F1514F44D936}" type="datetimeFigureOut">
              <a:rPr lang="en-US" smtClean="0"/>
              <a:t>1/8/26</a:t>
            </a:fld>
            <a:endParaRPr lang="en-US"/>
          </a:p>
        </p:txBody>
      </p:sp>
      <p:sp>
        <p:nvSpPr>
          <p:cNvPr id="8" name="Footer Placeholder 7">
            <a:extLst>
              <a:ext uri="{FF2B5EF4-FFF2-40B4-BE49-F238E27FC236}">
                <a16:creationId xmlns:a16="http://schemas.microsoft.com/office/drawing/2014/main" id="{7000D620-B6F4-C894-3E15-AD2C1235F7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43B585A-C4FE-0E0A-B1FF-40F581EFF602}"/>
              </a:ext>
            </a:extLst>
          </p:cNvPr>
          <p:cNvSpPr>
            <a:spLocks noGrp="1"/>
          </p:cNvSpPr>
          <p:nvPr>
            <p:ph type="sldNum" sz="quarter" idx="12"/>
          </p:nvPr>
        </p:nvSpPr>
        <p:spPr/>
        <p:txBody>
          <a:bodyPr/>
          <a:lstStyle/>
          <a:p>
            <a:fld id="{A7D7FF97-C98F-A043-AE25-2CFA16FAECFD}" type="slidenum">
              <a:rPr lang="en-US" smtClean="0"/>
              <a:t>‹#›</a:t>
            </a:fld>
            <a:endParaRPr lang="en-US"/>
          </a:p>
        </p:txBody>
      </p:sp>
    </p:spTree>
    <p:extLst>
      <p:ext uri="{BB962C8B-B14F-4D97-AF65-F5344CB8AC3E}">
        <p14:creationId xmlns:p14="http://schemas.microsoft.com/office/powerpoint/2010/main" val="2135219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F2240-2ED4-3298-1CAF-C5FEEB2BC7B4}"/>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988719B-6173-D353-3364-028F1170F5EA}"/>
              </a:ext>
            </a:extLst>
          </p:cNvPr>
          <p:cNvSpPr>
            <a:spLocks noGrp="1"/>
          </p:cNvSpPr>
          <p:nvPr>
            <p:ph type="dt" sz="half" idx="10"/>
          </p:nvPr>
        </p:nvSpPr>
        <p:spPr/>
        <p:txBody>
          <a:bodyPr/>
          <a:lstStyle/>
          <a:p>
            <a:fld id="{5F43D1F6-FD4C-E74D-9E2E-F1514F44D936}" type="datetimeFigureOut">
              <a:rPr lang="en-US" smtClean="0"/>
              <a:t>1/8/26</a:t>
            </a:fld>
            <a:endParaRPr lang="en-US"/>
          </a:p>
        </p:txBody>
      </p:sp>
      <p:sp>
        <p:nvSpPr>
          <p:cNvPr id="4" name="Footer Placeholder 3">
            <a:extLst>
              <a:ext uri="{FF2B5EF4-FFF2-40B4-BE49-F238E27FC236}">
                <a16:creationId xmlns:a16="http://schemas.microsoft.com/office/drawing/2014/main" id="{80796D43-D016-EA7C-1895-1C55F0AFDA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F6AFCB5-C63D-35B4-6EC7-2DE7FBCB43B7}"/>
              </a:ext>
            </a:extLst>
          </p:cNvPr>
          <p:cNvSpPr>
            <a:spLocks noGrp="1"/>
          </p:cNvSpPr>
          <p:nvPr>
            <p:ph type="sldNum" sz="quarter" idx="12"/>
          </p:nvPr>
        </p:nvSpPr>
        <p:spPr/>
        <p:txBody>
          <a:bodyPr/>
          <a:lstStyle/>
          <a:p>
            <a:fld id="{A7D7FF97-C98F-A043-AE25-2CFA16FAECFD}" type="slidenum">
              <a:rPr lang="en-US" smtClean="0"/>
              <a:t>‹#›</a:t>
            </a:fld>
            <a:endParaRPr lang="en-US"/>
          </a:p>
        </p:txBody>
      </p:sp>
    </p:spTree>
    <p:extLst>
      <p:ext uri="{BB962C8B-B14F-4D97-AF65-F5344CB8AC3E}">
        <p14:creationId xmlns:p14="http://schemas.microsoft.com/office/powerpoint/2010/main" val="34276783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4265A0-4A3B-6425-53D6-B0B68596CB73}"/>
              </a:ext>
            </a:extLst>
          </p:cNvPr>
          <p:cNvSpPr>
            <a:spLocks noGrp="1"/>
          </p:cNvSpPr>
          <p:nvPr>
            <p:ph type="dt" sz="half" idx="10"/>
          </p:nvPr>
        </p:nvSpPr>
        <p:spPr/>
        <p:txBody>
          <a:bodyPr/>
          <a:lstStyle/>
          <a:p>
            <a:fld id="{5F43D1F6-FD4C-E74D-9E2E-F1514F44D936}" type="datetimeFigureOut">
              <a:rPr lang="en-US" smtClean="0"/>
              <a:t>1/8/26</a:t>
            </a:fld>
            <a:endParaRPr lang="en-US"/>
          </a:p>
        </p:txBody>
      </p:sp>
      <p:sp>
        <p:nvSpPr>
          <p:cNvPr id="3" name="Footer Placeholder 2">
            <a:extLst>
              <a:ext uri="{FF2B5EF4-FFF2-40B4-BE49-F238E27FC236}">
                <a16:creationId xmlns:a16="http://schemas.microsoft.com/office/drawing/2014/main" id="{0B3ACBED-6AAC-4B12-79EA-63B4E4C9C5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CC5636-6A52-29DD-C68C-E9540443F078}"/>
              </a:ext>
            </a:extLst>
          </p:cNvPr>
          <p:cNvSpPr>
            <a:spLocks noGrp="1"/>
          </p:cNvSpPr>
          <p:nvPr>
            <p:ph type="sldNum" sz="quarter" idx="12"/>
          </p:nvPr>
        </p:nvSpPr>
        <p:spPr/>
        <p:txBody>
          <a:bodyPr/>
          <a:lstStyle/>
          <a:p>
            <a:fld id="{A7D7FF97-C98F-A043-AE25-2CFA16FAECFD}" type="slidenum">
              <a:rPr lang="en-US" smtClean="0"/>
              <a:t>‹#›</a:t>
            </a:fld>
            <a:endParaRPr lang="en-US"/>
          </a:p>
        </p:txBody>
      </p:sp>
    </p:spTree>
    <p:extLst>
      <p:ext uri="{BB962C8B-B14F-4D97-AF65-F5344CB8AC3E}">
        <p14:creationId xmlns:p14="http://schemas.microsoft.com/office/powerpoint/2010/main" val="662405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C514D-9766-E407-EB58-1C289A5B1E2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BD5D5C1-EB26-192D-AB65-5B836884B7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ED9F57B-BD80-9BE9-6A17-5DF7FD9540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29DE05F-6A6A-F3EF-5787-A622A4ECB13C}"/>
              </a:ext>
            </a:extLst>
          </p:cNvPr>
          <p:cNvSpPr>
            <a:spLocks noGrp="1"/>
          </p:cNvSpPr>
          <p:nvPr>
            <p:ph type="dt" sz="half" idx="10"/>
          </p:nvPr>
        </p:nvSpPr>
        <p:spPr/>
        <p:txBody>
          <a:bodyPr/>
          <a:lstStyle/>
          <a:p>
            <a:fld id="{5F43D1F6-FD4C-E74D-9E2E-F1514F44D936}" type="datetimeFigureOut">
              <a:rPr lang="en-US" smtClean="0"/>
              <a:t>1/8/26</a:t>
            </a:fld>
            <a:endParaRPr lang="en-US"/>
          </a:p>
        </p:txBody>
      </p:sp>
      <p:sp>
        <p:nvSpPr>
          <p:cNvPr id="6" name="Footer Placeholder 5">
            <a:extLst>
              <a:ext uri="{FF2B5EF4-FFF2-40B4-BE49-F238E27FC236}">
                <a16:creationId xmlns:a16="http://schemas.microsoft.com/office/drawing/2014/main" id="{24F4C54E-49B5-54AF-F79F-C1E3694E56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AE5974-8DF9-F7CA-ED0A-FF52D922FFFD}"/>
              </a:ext>
            </a:extLst>
          </p:cNvPr>
          <p:cNvSpPr>
            <a:spLocks noGrp="1"/>
          </p:cNvSpPr>
          <p:nvPr>
            <p:ph type="sldNum" sz="quarter" idx="12"/>
          </p:nvPr>
        </p:nvSpPr>
        <p:spPr/>
        <p:txBody>
          <a:bodyPr/>
          <a:lstStyle/>
          <a:p>
            <a:fld id="{A7D7FF97-C98F-A043-AE25-2CFA16FAECFD}" type="slidenum">
              <a:rPr lang="en-US" smtClean="0"/>
              <a:t>‹#›</a:t>
            </a:fld>
            <a:endParaRPr lang="en-US"/>
          </a:p>
        </p:txBody>
      </p:sp>
    </p:spTree>
    <p:extLst>
      <p:ext uri="{BB962C8B-B14F-4D97-AF65-F5344CB8AC3E}">
        <p14:creationId xmlns:p14="http://schemas.microsoft.com/office/powerpoint/2010/main" val="26644791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42D11-B938-B6BE-73C7-79910E2B5D2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12A471C1-8ADF-5DC4-CB7D-127732748D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36C46B-09F9-C0EC-9ECA-231C4309E1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CF3AC15-EA99-BEA8-6B30-154800E10A97}"/>
              </a:ext>
            </a:extLst>
          </p:cNvPr>
          <p:cNvSpPr>
            <a:spLocks noGrp="1"/>
          </p:cNvSpPr>
          <p:nvPr>
            <p:ph type="dt" sz="half" idx="10"/>
          </p:nvPr>
        </p:nvSpPr>
        <p:spPr/>
        <p:txBody>
          <a:bodyPr/>
          <a:lstStyle/>
          <a:p>
            <a:fld id="{5F43D1F6-FD4C-E74D-9E2E-F1514F44D936}" type="datetimeFigureOut">
              <a:rPr lang="en-US" smtClean="0"/>
              <a:t>1/8/26</a:t>
            </a:fld>
            <a:endParaRPr lang="en-US"/>
          </a:p>
        </p:txBody>
      </p:sp>
      <p:sp>
        <p:nvSpPr>
          <p:cNvPr id="6" name="Footer Placeholder 5">
            <a:extLst>
              <a:ext uri="{FF2B5EF4-FFF2-40B4-BE49-F238E27FC236}">
                <a16:creationId xmlns:a16="http://schemas.microsoft.com/office/drawing/2014/main" id="{3BC4DCDB-8F45-9A42-0799-0AAD74873C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96E1FC-BEF1-73EB-3703-143459481BDE}"/>
              </a:ext>
            </a:extLst>
          </p:cNvPr>
          <p:cNvSpPr>
            <a:spLocks noGrp="1"/>
          </p:cNvSpPr>
          <p:nvPr>
            <p:ph type="sldNum" sz="quarter" idx="12"/>
          </p:nvPr>
        </p:nvSpPr>
        <p:spPr/>
        <p:txBody>
          <a:bodyPr/>
          <a:lstStyle/>
          <a:p>
            <a:fld id="{A7D7FF97-C98F-A043-AE25-2CFA16FAECFD}" type="slidenum">
              <a:rPr lang="en-US" smtClean="0"/>
              <a:t>‹#›</a:t>
            </a:fld>
            <a:endParaRPr lang="en-US"/>
          </a:p>
        </p:txBody>
      </p:sp>
    </p:spTree>
    <p:extLst>
      <p:ext uri="{BB962C8B-B14F-4D97-AF65-F5344CB8AC3E}">
        <p14:creationId xmlns:p14="http://schemas.microsoft.com/office/powerpoint/2010/main" val="1447495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6429C-5196-67B9-BE8D-419584CEAB8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1BFDF8F-42DF-010F-D0C3-219B4AA0522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51147EC-BBE3-8114-30C6-E0CCCDF66DE4}"/>
              </a:ext>
            </a:extLst>
          </p:cNvPr>
          <p:cNvSpPr>
            <a:spLocks noGrp="1"/>
          </p:cNvSpPr>
          <p:nvPr>
            <p:ph type="dt" sz="half" idx="10"/>
          </p:nvPr>
        </p:nvSpPr>
        <p:spPr/>
        <p:txBody>
          <a:bodyPr/>
          <a:lstStyle/>
          <a:p>
            <a:fld id="{5F43D1F6-FD4C-E74D-9E2E-F1514F44D936}" type="datetimeFigureOut">
              <a:rPr lang="en-US" smtClean="0"/>
              <a:t>1/8/26</a:t>
            </a:fld>
            <a:endParaRPr lang="en-US"/>
          </a:p>
        </p:txBody>
      </p:sp>
      <p:sp>
        <p:nvSpPr>
          <p:cNvPr id="5" name="Footer Placeholder 4">
            <a:extLst>
              <a:ext uri="{FF2B5EF4-FFF2-40B4-BE49-F238E27FC236}">
                <a16:creationId xmlns:a16="http://schemas.microsoft.com/office/drawing/2014/main" id="{A73D5F3A-8EFD-2D2E-E41E-4568E669BD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8FC64F-6E8D-77BC-7097-B9EA677BCC91}"/>
              </a:ext>
            </a:extLst>
          </p:cNvPr>
          <p:cNvSpPr>
            <a:spLocks noGrp="1"/>
          </p:cNvSpPr>
          <p:nvPr>
            <p:ph type="sldNum" sz="quarter" idx="12"/>
          </p:nvPr>
        </p:nvSpPr>
        <p:spPr/>
        <p:txBody>
          <a:bodyPr/>
          <a:lstStyle/>
          <a:p>
            <a:fld id="{A7D7FF97-C98F-A043-AE25-2CFA16FAECFD}" type="slidenum">
              <a:rPr lang="en-US" smtClean="0"/>
              <a:t>‹#›</a:t>
            </a:fld>
            <a:endParaRPr lang="en-US"/>
          </a:p>
        </p:txBody>
      </p:sp>
    </p:spTree>
    <p:extLst>
      <p:ext uri="{BB962C8B-B14F-4D97-AF65-F5344CB8AC3E}">
        <p14:creationId xmlns:p14="http://schemas.microsoft.com/office/powerpoint/2010/main" val="143684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9AC7B4-8B7E-4F71-E75C-3B3A10A033F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186BC6E-F2F6-E0BE-C8EE-0BCDD5D8517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CAE7836-D26E-A394-B1B1-7D455D0760EC}"/>
              </a:ext>
            </a:extLst>
          </p:cNvPr>
          <p:cNvSpPr>
            <a:spLocks noGrp="1"/>
          </p:cNvSpPr>
          <p:nvPr>
            <p:ph type="dt" sz="half" idx="10"/>
          </p:nvPr>
        </p:nvSpPr>
        <p:spPr/>
        <p:txBody>
          <a:bodyPr/>
          <a:lstStyle/>
          <a:p>
            <a:fld id="{5F43D1F6-FD4C-E74D-9E2E-F1514F44D936}" type="datetimeFigureOut">
              <a:rPr lang="en-US" smtClean="0"/>
              <a:t>1/8/26</a:t>
            </a:fld>
            <a:endParaRPr lang="en-US"/>
          </a:p>
        </p:txBody>
      </p:sp>
      <p:sp>
        <p:nvSpPr>
          <p:cNvPr id="5" name="Footer Placeholder 4">
            <a:extLst>
              <a:ext uri="{FF2B5EF4-FFF2-40B4-BE49-F238E27FC236}">
                <a16:creationId xmlns:a16="http://schemas.microsoft.com/office/drawing/2014/main" id="{6854389A-301E-3F1A-8DE2-47BD1FC0E0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792F03-687C-425F-FE45-A39FF63B7039}"/>
              </a:ext>
            </a:extLst>
          </p:cNvPr>
          <p:cNvSpPr>
            <a:spLocks noGrp="1"/>
          </p:cNvSpPr>
          <p:nvPr>
            <p:ph type="sldNum" sz="quarter" idx="12"/>
          </p:nvPr>
        </p:nvSpPr>
        <p:spPr/>
        <p:txBody>
          <a:bodyPr/>
          <a:lstStyle/>
          <a:p>
            <a:fld id="{A7D7FF97-C98F-A043-AE25-2CFA16FAECFD}" type="slidenum">
              <a:rPr lang="en-US" smtClean="0"/>
              <a:t>‹#›</a:t>
            </a:fld>
            <a:endParaRPr lang="en-US"/>
          </a:p>
        </p:txBody>
      </p:sp>
    </p:spTree>
    <p:extLst>
      <p:ext uri="{BB962C8B-B14F-4D97-AF65-F5344CB8AC3E}">
        <p14:creationId xmlns:p14="http://schemas.microsoft.com/office/powerpoint/2010/main" val="4003396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2B9155-309E-F346-D07C-3CE84E933F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F71C626-57C1-5639-DA3F-C853E05225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5F7200B-F320-EB6D-ECAF-92EE07E7C9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43D1F6-FD4C-E74D-9E2E-F1514F44D936}" type="datetimeFigureOut">
              <a:rPr lang="en-US" smtClean="0"/>
              <a:t>1/8/26</a:t>
            </a:fld>
            <a:endParaRPr lang="en-US"/>
          </a:p>
        </p:txBody>
      </p:sp>
      <p:sp>
        <p:nvSpPr>
          <p:cNvPr id="5" name="Footer Placeholder 4">
            <a:extLst>
              <a:ext uri="{FF2B5EF4-FFF2-40B4-BE49-F238E27FC236}">
                <a16:creationId xmlns:a16="http://schemas.microsoft.com/office/drawing/2014/main" id="{C7FA630D-3B89-B078-BC81-910861CEAA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A1E3916-BF1D-36F6-23CD-2B6C64D19D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D7FF97-C98F-A043-AE25-2CFA16FAECFD}" type="slidenum">
              <a:rPr lang="en-US" smtClean="0"/>
              <a:t>‹#›</a:t>
            </a:fld>
            <a:endParaRPr lang="en-US"/>
          </a:p>
        </p:txBody>
      </p:sp>
    </p:spTree>
    <p:extLst>
      <p:ext uri="{BB962C8B-B14F-4D97-AF65-F5344CB8AC3E}">
        <p14:creationId xmlns:p14="http://schemas.microsoft.com/office/powerpoint/2010/main" val="1946548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race car on a track&#10;&#10;AI-generated content may be incorrect.">
            <a:extLst>
              <a:ext uri="{FF2B5EF4-FFF2-40B4-BE49-F238E27FC236}">
                <a16:creationId xmlns:a16="http://schemas.microsoft.com/office/drawing/2014/main" id="{6EF7A2A9-5E8B-904B-7021-5EA6CACDED69}"/>
              </a:ext>
            </a:extLst>
          </p:cNvPr>
          <p:cNvPicPr>
            <a:picLocks noChangeAspect="1"/>
          </p:cNvPicPr>
          <p:nvPr/>
        </p:nvPicPr>
        <p:blipFill>
          <a:blip r:embed="rId2"/>
          <a:srcRect r="23298" b="9091"/>
          <a:stretch>
            <a:fillRect/>
          </a:stretch>
        </p:blipFill>
        <p:spPr>
          <a:xfrm>
            <a:off x="3523488" y="10"/>
            <a:ext cx="8668512" cy="6857990"/>
          </a:xfrm>
          <a:prstGeom prst="rect">
            <a:avLst/>
          </a:prstGeom>
        </p:spPr>
      </p:pic>
      <p:sp>
        <p:nvSpPr>
          <p:cNvPr id="19" name="Rectangle 18">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0947A80-28EE-C6CB-8184-6E047A56D53D}"/>
              </a:ext>
            </a:extLst>
          </p:cNvPr>
          <p:cNvSpPr>
            <a:spLocks noGrp="1"/>
          </p:cNvSpPr>
          <p:nvPr>
            <p:ph type="ctrTitle"/>
          </p:nvPr>
        </p:nvSpPr>
        <p:spPr>
          <a:xfrm>
            <a:off x="0" y="1909333"/>
            <a:ext cx="4023360" cy="2304844"/>
          </a:xfrm>
        </p:spPr>
        <p:txBody>
          <a:bodyPr anchor="b">
            <a:normAutofit/>
          </a:bodyPr>
          <a:lstStyle/>
          <a:p>
            <a:r>
              <a:rPr lang="en-US" sz="4800" dirty="0">
                <a:solidFill>
                  <a:schemeClr val="bg1"/>
                </a:solidFill>
                <a:latin typeface="Calibri" panose="020F0502020204030204" pitchFamily="34" charset="0"/>
                <a:cs typeface="Calibri" panose="020F0502020204030204" pitchFamily="34" charset="0"/>
              </a:rPr>
              <a:t>Programming assessment Presentation</a:t>
            </a:r>
          </a:p>
        </p:txBody>
      </p:sp>
      <p:sp>
        <p:nvSpPr>
          <p:cNvPr id="3" name="Subtitle 2">
            <a:extLst>
              <a:ext uri="{FF2B5EF4-FFF2-40B4-BE49-F238E27FC236}">
                <a16:creationId xmlns:a16="http://schemas.microsoft.com/office/drawing/2014/main" id="{544D3DF0-9F2E-DE04-9D4C-FA5B8E8AFEF5}"/>
              </a:ext>
            </a:extLst>
          </p:cNvPr>
          <p:cNvSpPr>
            <a:spLocks noGrp="1"/>
          </p:cNvSpPr>
          <p:nvPr>
            <p:ph type="subTitle" idx="1"/>
          </p:nvPr>
        </p:nvSpPr>
        <p:spPr>
          <a:xfrm>
            <a:off x="165812" y="4529920"/>
            <a:ext cx="3691735" cy="1208141"/>
          </a:xfrm>
        </p:spPr>
        <p:txBody>
          <a:bodyPr>
            <a:normAutofit/>
          </a:bodyPr>
          <a:lstStyle/>
          <a:p>
            <a:r>
              <a:rPr lang="en-US" sz="2000" dirty="0">
                <a:solidFill>
                  <a:schemeClr val="bg1"/>
                </a:solidFill>
                <a:latin typeface="Calibri" panose="020F0502020204030204" pitchFamily="34" charset="0"/>
                <a:cs typeface="Calibri" panose="020F0502020204030204" pitchFamily="34" charset="0"/>
              </a:rPr>
              <a:t>A comprehensive analysis on Formula 1 data from 1950-2024</a:t>
            </a:r>
          </a:p>
        </p:txBody>
      </p:sp>
      <p:sp>
        <p:nvSpPr>
          <p:cNvPr id="20" name="Rectangle 1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 name="Rectangle 20">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A687004A-C786-DCAE-2BEA-B9B982FCBBA9}"/>
              </a:ext>
            </a:extLst>
          </p:cNvPr>
          <p:cNvSpPr/>
          <p:nvPr/>
        </p:nvSpPr>
        <p:spPr>
          <a:xfrm>
            <a:off x="255557" y="575938"/>
            <a:ext cx="963827" cy="27625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9" name="Picture 8" descr="A black background with text&#10;&#10;AI-generated content may be incorrect.">
            <a:extLst>
              <a:ext uri="{FF2B5EF4-FFF2-40B4-BE49-F238E27FC236}">
                <a16:creationId xmlns:a16="http://schemas.microsoft.com/office/drawing/2014/main" id="{D303909E-0EC2-FD83-FAB2-7DDD65434BE9}"/>
              </a:ext>
            </a:extLst>
          </p:cNvPr>
          <p:cNvPicPr>
            <a:picLocks noChangeAspect="1"/>
          </p:cNvPicPr>
          <p:nvPr/>
        </p:nvPicPr>
        <p:blipFill>
          <a:blip r:embed="rId3">
            <a:duotone>
              <a:prstClr val="black"/>
              <a:schemeClr val="bg1">
                <a:tint val="45000"/>
                <a:satMod val="400000"/>
              </a:schemeClr>
            </a:duotone>
            <a:extLst>
              <a:ext uri="{BEBA8EAE-BF5A-486C-A8C5-ECC9F3942E4B}">
                <a14:imgProps xmlns:a14="http://schemas.microsoft.com/office/drawing/2010/main">
                  <a14:imgLayer r:embed="rId4">
                    <a14:imgEffect>
                      <a14:artisticPhotocopy/>
                    </a14:imgEffect>
                    <a14:imgEffect>
                      <a14:colorTemperature colorTemp="7200"/>
                    </a14:imgEffect>
                  </a14:imgLayer>
                </a14:imgProps>
              </a:ext>
            </a:extLst>
          </a:blip>
          <a:stretch>
            <a:fillRect/>
          </a:stretch>
        </p:blipFill>
        <p:spPr>
          <a:xfrm>
            <a:off x="217434" y="385449"/>
            <a:ext cx="3306054" cy="1523884"/>
          </a:xfrm>
          <a:prstGeom prst="rect">
            <a:avLst/>
          </a:prstGeom>
        </p:spPr>
      </p:pic>
    </p:spTree>
    <p:extLst>
      <p:ext uri="{BB962C8B-B14F-4D97-AF65-F5344CB8AC3E}">
        <p14:creationId xmlns:p14="http://schemas.microsoft.com/office/powerpoint/2010/main" val="6581572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FA233A6-E030-3925-F42D-E62E7E50626E}"/>
              </a:ext>
            </a:extLst>
          </p:cNvPr>
          <p:cNvSpPr/>
          <p:nvPr/>
        </p:nvSpPr>
        <p:spPr>
          <a:xfrm>
            <a:off x="0" y="8550"/>
            <a:ext cx="12192000" cy="6858000"/>
          </a:xfrm>
          <a:prstGeom prst="rect">
            <a:avLst/>
          </a:prstGeom>
          <a:solidFill>
            <a:srgbClr val="F3F3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292EE6-9BD7-C135-0AAA-A55E6CA78168}"/>
              </a:ext>
            </a:extLst>
          </p:cNvPr>
          <p:cNvSpPr>
            <a:spLocks noGrp="1"/>
          </p:cNvSpPr>
          <p:nvPr>
            <p:ph type="title"/>
          </p:nvPr>
        </p:nvSpPr>
        <p:spPr>
          <a:xfrm>
            <a:off x="0" y="0"/>
            <a:ext cx="10515600" cy="1325563"/>
          </a:xfrm>
        </p:spPr>
        <p:txBody>
          <a:bodyPr>
            <a:normAutofit/>
          </a:bodyPr>
          <a:lstStyle/>
          <a:p>
            <a:r>
              <a:rPr lang="en-US" dirty="0">
                <a:solidFill>
                  <a:srgbClr val="1A1A1A"/>
                </a:solidFill>
                <a:latin typeface="Calibri" panose="020F0502020204030204" pitchFamily="34" charset="0"/>
                <a:cs typeface="Calibri" panose="020F0502020204030204" pitchFamily="34" charset="0"/>
              </a:rPr>
              <a:t>An introduction to Formula 1 data</a:t>
            </a:r>
          </a:p>
        </p:txBody>
      </p:sp>
      <p:graphicFrame>
        <p:nvGraphicFramePr>
          <p:cNvPr id="56" name="Content Placeholder 6">
            <a:extLst>
              <a:ext uri="{FF2B5EF4-FFF2-40B4-BE49-F238E27FC236}">
                <a16:creationId xmlns:a16="http://schemas.microsoft.com/office/drawing/2014/main" id="{5F6D6E7E-518A-B24C-DD4F-D867708850E0}"/>
              </a:ext>
            </a:extLst>
          </p:cNvPr>
          <p:cNvGraphicFramePr>
            <a:graphicFrameLocks noGrp="1"/>
          </p:cNvGraphicFramePr>
          <p:nvPr>
            <p:ph idx="1"/>
            <p:extLst>
              <p:ext uri="{D42A27DB-BD31-4B8C-83A1-F6EECF244321}">
                <p14:modId xmlns:p14="http://schemas.microsoft.com/office/powerpoint/2010/main" val="1901562123"/>
              </p:ext>
            </p:extLst>
          </p:nvPr>
        </p:nvGraphicFramePr>
        <p:xfrm>
          <a:off x="320233" y="1342663"/>
          <a:ext cx="11551534" cy="49655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32527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0344B-6888-0D05-572F-FDFDAB512E78}"/>
              </a:ext>
            </a:extLst>
          </p:cNvPr>
          <p:cNvSpPr>
            <a:spLocks noGrp="1"/>
          </p:cNvSpPr>
          <p:nvPr>
            <p:ph type="title"/>
          </p:nvPr>
        </p:nvSpPr>
        <p:spPr>
          <a:xfrm>
            <a:off x="838199" y="189369"/>
            <a:ext cx="10515600" cy="835818"/>
          </a:xfrm>
        </p:spPr>
        <p:txBody>
          <a:bodyPr/>
          <a:lstStyle/>
          <a:p>
            <a:pPr algn="ctr"/>
            <a:r>
              <a:rPr lang="en-GB" dirty="0">
                <a:latin typeface="Calibri" panose="020F0502020204030204" pitchFamily="34" charset="0"/>
                <a:cs typeface="Calibri" panose="020F0502020204030204" pitchFamily="34" charset="0"/>
              </a:rPr>
              <a:t>Qualifying vs Race Performance Analysis</a:t>
            </a:r>
            <a:endParaRPr lang="en-US" dirty="0">
              <a:latin typeface="Calibri" panose="020F0502020204030204" pitchFamily="34" charset="0"/>
              <a:cs typeface="Calibri" panose="020F0502020204030204" pitchFamily="34" charset="0"/>
            </a:endParaRPr>
          </a:p>
        </p:txBody>
      </p:sp>
      <p:pic>
        <p:nvPicPr>
          <p:cNvPr id="5" name="Picture 4" descr="A comparison of a number of race results&#10;&#10;AI-generated content may be incorrect.">
            <a:extLst>
              <a:ext uri="{FF2B5EF4-FFF2-40B4-BE49-F238E27FC236}">
                <a16:creationId xmlns:a16="http://schemas.microsoft.com/office/drawing/2014/main" id="{8D802CB1-A4B2-3920-45A3-3B986300CD60}"/>
              </a:ext>
            </a:extLst>
          </p:cNvPr>
          <p:cNvPicPr>
            <a:picLocks noChangeAspect="1"/>
          </p:cNvPicPr>
          <p:nvPr/>
        </p:nvPicPr>
        <p:blipFill>
          <a:blip r:embed="rId3"/>
          <a:stretch>
            <a:fillRect/>
          </a:stretch>
        </p:blipFill>
        <p:spPr>
          <a:xfrm>
            <a:off x="1300063" y="1025187"/>
            <a:ext cx="9591873" cy="4236514"/>
          </a:xfrm>
          <a:prstGeom prst="rect">
            <a:avLst/>
          </a:prstGeom>
        </p:spPr>
      </p:pic>
      <p:sp>
        <p:nvSpPr>
          <p:cNvPr id="9" name="Content Placeholder 2">
            <a:extLst>
              <a:ext uri="{FF2B5EF4-FFF2-40B4-BE49-F238E27FC236}">
                <a16:creationId xmlns:a16="http://schemas.microsoft.com/office/drawing/2014/main" id="{EEF6BA9C-AD37-F4A2-E32E-059E3CC41A02}"/>
              </a:ext>
            </a:extLst>
          </p:cNvPr>
          <p:cNvSpPr txBox="1">
            <a:spLocks/>
          </p:cNvSpPr>
          <p:nvPr/>
        </p:nvSpPr>
        <p:spPr>
          <a:xfrm>
            <a:off x="-1618344" y="5974768"/>
            <a:ext cx="2960915" cy="18142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p>
        </p:txBody>
      </p:sp>
      <p:sp>
        <p:nvSpPr>
          <p:cNvPr id="15" name="TextBox 14">
            <a:extLst>
              <a:ext uri="{FF2B5EF4-FFF2-40B4-BE49-F238E27FC236}">
                <a16:creationId xmlns:a16="http://schemas.microsoft.com/office/drawing/2014/main" id="{2A43FB67-2C0B-04D8-A85D-A33AA8B38394}"/>
              </a:ext>
            </a:extLst>
          </p:cNvPr>
          <p:cNvSpPr txBox="1"/>
          <p:nvPr/>
        </p:nvSpPr>
        <p:spPr>
          <a:xfrm>
            <a:off x="1300063" y="5288793"/>
            <a:ext cx="10065658" cy="1754326"/>
          </a:xfrm>
          <a:prstGeom prst="rect">
            <a:avLst/>
          </a:prstGeom>
          <a:noFill/>
        </p:spPr>
        <p:txBody>
          <a:bodyPr wrap="square" rtlCol="0">
            <a:spAutoFit/>
          </a:bodyPr>
          <a:lstStyle/>
          <a:p>
            <a:r>
              <a:rPr lang="en-GB" b="1" dirty="0">
                <a:latin typeface="Calibri" panose="020F0502020204030204" pitchFamily="34" charset="0"/>
                <a:cs typeface="Calibri" panose="020F0502020204030204" pitchFamily="34" charset="0"/>
              </a:rPr>
              <a:t>Qualifying vs Race Performance</a:t>
            </a:r>
            <a:endParaRPr lang="en-GB"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dirty="0">
                <a:latin typeface="Calibri" panose="020F0502020204030204" pitchFamily="34" charset="0"/>
                <a:cs typeface="Calibri" panose="020F0502020204030204" pitchFamily="34" charset="0"/>
              </a:rPr>
              <a:t>Qualifying shows raw pace, but race results reveal true performance under pressure.</a:t>
            </a:r>
          </a:p>
          <a:p>
            <a:pPr marL="285750" indent="-285750">
              <a:buFont typeface="Arial" panose="020B0604020202020204" pitchFamily="34" charset="0"/>
              <a:buChar char="•"/>
            </a:pPr>
            <a:r>
              <a:rPr lang="en-GB" dirty="0">
                <a:latin typeface="Calibri" panose="020F0502020204030204" pitchFamily="34" charset="0"/>
                <a:cs typeface="Calibri" panose="020F0502020204030204" pitchFamily="34" charset="0"/>
              </a:rPr>
              <a:t>Some drivers consistently finish higher than their grid position.</a:t>
            </a:r>
          </a:p>
          <a:p>
            <a:pPr marL="285750" indent="-285750">
              <a:buFont typeface="Arial" panose="020B0604020202020204" pitchFamily="34" charset="0"/>
              <a:buChar char="•"/>
            </a:pPr>
            <a:r>
              <a:rPr lang="en-GB" dirty="0">
                <a:latin typeface="Calibri" panose="020F0502020204030204" pitchFamily="34" charset="0"/>
                <a:cs typeface="Calibri" panose="020F0502020204030204" pitchFamily="34" charset="0"/>
              </a:rPr>
              <a:t>Certain drivers overperform at specific circuits.</a:t>
            </a:r>
          </a:p>
          <a:p>
            <a:pPr marL="285750" indent="-285750">
              <a:buFont typeface="Arial" panose="020B0604020202020204" pitchFamily="34" charset="0"/>
              <a:buChar char="•"/>
            </a:pPr>
            <a:r>
              <a:rPr lang="en-GB" dirty="0">
                <a:latin typeface="Calibri" panose="020F0502020204030204" pitchFamily="34" charset="0"/>
                <a:cs typeface="Calibri" panose="020F0502020204030204" pitchFamily="34" charset="0"/>
              </a:rPr>
              <a:t>Minimum race thresholds improve the reliability of the analysis.</a:t>
            </a:r>
          </a:p>
          <a:p>
            <a:endParaRPr lang="en-US" dirty="0"/>
          </a:p>
        </p:txBody>
      </p:sp>
    </p:spTree>
    <p:extLst>
      <p:ext uri="{BB962C8B-B14F-4D97-AF65-F5344CB8AC3E}">
        <p14:creationId xmlns:p14="http://schemas.microsoft.com/office/powerpoint/2010/main" val="424347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9A015047-B2CA-F4E1-DB15-46BA546E980E}"/>
              </a:ext>
            </a:extLst>
          </p:cNvPr>
          <p:cNvSpPr txBox="1">
            <a:spLocks/>
          </p:cNvSpPr>
          <p:nvPr/>
        </p:nvSpPr>
        <p:spPr>
          <a:xfrm>
            <a:off x="1198181" y="267295"/>
            <a:ext cx="9795638" cy="111438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dirty="0">
                <a:latin typeface="Calibri" panose="020F0502020204030204" pitchFamily="34" charset="0"/>
                <a:cs typeface="Calibri" panose="020F0502020204030204" pitchFamily="34" charset="0"/>
              </a:rPr>
              <a:t>Top Underperformer vs Top Overperformer Heatmap Analysis</a:t>
            </a:r>
          </a:p>
        </p:txBody>
      </p:sp>
      <p:pic>
        <p:nvPicPr>
          <p:cNvPr id="13" name="Picture 12" descr="A purple squares on a black background&#10;&#10;AI-generated content may be incorrect.">
            <a:extLst>
              <a:ext uri="{FF2B5EF4-FFF2-40B4-BE49-F238E27FC236}">
                <a16:creationId xmlns:a16="http://schemas.microsoft.com/office/drawing/2014/main" id="{F68FA81A-3935-A942-AFC9-DC9B623B2397}"/>
              </a:ext>
            </a:extLst>
          </p:cNvPr>
          <p:cNvPicPr>
            <a:picLocks noChangeAspect="1"/>
          </p:cNvPicPr>
          <p:nvPr/>
        </p:nvPicPr>
        <p:blipFill>
          <a:blip r:embed="rId3"/>
          <a:stretch>
            <a:fillRect/>
          </a:stretch>
        </p:blipFill>
        <p:spPr>
          <a:xfrm>
            <a:off x="207019" y="1542127"/>
            <a:ext cx="5600630" cy="3346376"/>
          </a:xfrm>
          <a:prstGeom prst="rect">
            <a:avLst/>
          </a:prstGeom>
        </p:spPr>
      </p:pic>
      <p:pic>
        <p:nvPicPr>
          <p:cNvPr id="17" name="Picture 16" descr="A graph showing different colored squares&#10;&#10;AI-generated content may be incorrect.">
            <a:extLst>
              <a:ext uri="{FF2B5EF4-FFF2-40B4-BE49-F238E27FC236}">
                <a16:creationId xmlns:a16="http://schemas.microsoft.com/office/drawing/2014/main" id="{5AECCEB5-4571-A2C3-C36B-E617FE2B32E3}"/>
              </a:ext>
            </a:extLst>
          </p:cNvPr>
          <p:cNvPicPr>
            <a:picLocks noChangeAspect="1"/>
          </p:cNvPicPr>
          <p:nvPr/>
        </p:nvPicPr>
        <p:blipFill>
          <a:blip r:embed="rId4"/>
          <a:stretch>
            <a:fillRect/>
          </a:stretch>
        </p:blipFill>
        <p:spPr>
          <a:xfrm>
            <a:off x="6094475" y="1648970"/>
            <a:ext cx="5828261" cy="3132689"/>
          </a:xfrm>
          <a:prstGeom prst="rect">
            <a:avLst/>
          </a:prstGeom>
        </p:spPr>
      </p:pic>
      <p:sp>
        <p:nvSpPr>
          <p:cNvPr id="19" name="TextBox 18">
            <a:extLst>
              <a:ext uri="{FF2B5EF4-FFF2-40B4-BE49-F238E27FC236}">
                <a16:creationId xmlns:a16="http://schemas.microsoft.com/office/drawing/2014/main" id="{04BC15E4-049B-615D-967C-5ADF1DE68374}"/>
              </a:ext>
            </a:extLst>
          </p:cNvPr>
          <p:cNvSpPr txBox="1"/>
          <p:nvPr/>
        </p:nvSpPr>
        <p:spPr>
          <a:xfrm>
            <a:off x="732586" y="4960322"/>
            <a:ext cx="10723777" cy="2031325"/>
          </a:xfrm>
          <a:prstGeom prst="rect">
            <a:avLst/>
          </a:prstGeom>
          <a:noFill/>
        </p:spPr>
        <p:txBody>
          <a:bodyPr wrap="square" rtlCol="0">
            <a:spAutoFit/>
          </a:bodyPr>
          <a:lstStyle/>
          <a:p>
            <a:r>
              <a:rPr lang="en-GB" b="1" dirty="0">
                <a:latin typeface="Calibri" panose="020F0502020204030204" pitchFamily="34" charset="0"/>
                <a:cs typeface="Calibri" panose="020F0502020204030204" pitchFamily="34" charset="0"/>
              </a:rPr>
              <a:t>Key Observations</a:t>
            </a:r>
            <a:endParaRPr lang="en-GB"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b="1" dirty="0">
                <a:latin typeface="Calibri" panose="020F0502020204030204" pitchFamily="34" charset="0"/>
                <a:cs typeface="Calibri" panose="020F0502020204030204" pitchFamily="34" charset="0"/>
              </a:rPr>
              <a:t>Elite consistency:</a:t>
            </a:r>
            <a:r>
              <a:rPr lang="en-GB" dirty="0">
                <a:latin typeface="Calibri" panose="020F0502020204030204" pitchFamily="34" charset="0"/>
                <a:cs typeface="Calibri" panose="020F0502020204030204" pitchFamily="34" charset="0"/>
              </a:rPr>
              <a:t> Senna’s results cluster around top finishing positions across seasons.</a:t>
            </a:r>
          </a:p>
          <a:p>
            <a:pPr marL="285750" indent="-285750">
              <a:buFont typeface="Arial" panose="020B0604020202020204" pitchFamily="34" charset="0"/>
              <a:buChar char="•"/>
            </a:pPr>
            <a:r>
              <a:rPr lang="en-GB" b="1" dirty="0">
                <a:latin typeface="Calibri" panose="020F0502020204030204" pitchFamily="34" charset="0"/>
                <a:cs typeface="Calibri" panose="020F0502020204030204" pitchFamily="34" charset="0"/>
              </a:rPr>
              <a:t>Midfield variability:</a:t>
            </a:r>
            <a:r>
              <a:rPr lang="en-GB" dirty="0">
                <a:latin typeface="Calibri" panose="020F0502020204030204" pitchFamily="34" charset="0"/>
                <a:cs typeface="Calibri" panose="020F0502020204030204" pitchFamily="34" charset="0"/>
              </a:rPr>
              <a:t> Salo’s finishes spread widely across the grid.</a:t>
            </a:r>
          </a:p>
          <a:p>
            <a:pPr marL="285750" indent="-285750">
              <a:buFont typeface="Arial" panose="020B0604020202020204" pitchFamily="34" charset="0"/>
              <a:buChar char="•"/>
            </a:pPr>
            <a:r>
              <a:rPr lang="en-GB" b="1" dirty="0">
                <a:latin typeface="Calibri" panose="020F0502020204030204" pitchFamily="34" charset="0"/>
                <a:cs typeface="Calibri" panose="020F0502020204030204" pitchFamily="34" charset="0"/>
              </a:rPr>
              <a:t>Distribution matters:</a:t>
            </a:r>
            <a:r>
              <a:rPr lang="en-GB" dirty="0">
                <a:latin typeface="Calibri" panose="020F0502020204030204" pitchFamily="34" charset="0"/>
                <a:cs typeface="Calibri" panose="020F0502020204030204" pitchFamily="34" charset="0"/>
              </a:rPr>
              <a:t> Heatmaps reveal long-term patterns hidden by averages.</a:t>
            </a:r>
          </a:p>
          <a:p>
            <a:pPr marL="285750" indent="-285750">
              <a:buFont typeface="Arial" panose="020B0604020202020204" pitchFamily="34" charset="0"/>
              <a:buChar char="•"/>
            </a:pPr>
            <a:r>
              <a:rPr lang="en-GB" b="1" dirty="0">
                <a:latin typeface="Calibri" panose="020F0502020204030204" pitchFamily="34" charset="0"/>
                <a:cs typeface="Calibri" panose="020F0502020204030204" pitchFamily="34" charset="0"/>
              </a:rPr>
              <a:t>Outliers matter:</a:t>
            </a:r>
            <a:r>
              <a:rPr lang="en-GB" dirty="0">
                <a:latin typeface="Calibri" panose="020F0502020204030204" pitchFamily="34" charset="0"/>
                <a:cs typeface="Calibri" panose="020F0502020204030204" pitchFamily="34" charset="0"/>
              </a:rPr>
              <a:t> Senna’s heatmap shows several extreme results, thus supporting why he appears to lose positions from qualifying despite overall dominance.</a:t>
            </a:r>
          </a:p>
          <a:p>
            <a:endParaRPr lang="en-US" dirty="0"/>
          </a:p>
        </p:txBody>
      </p:sp>
    </p:spTree>
    <p:extLst>
      <p:ext uri="{BB962C8B-B14F-4D97-AF65-F5344CB8AC3E}">
        <p14:creationId xmlns:p14="http://schemas.microsoft.com/office/powerpoint/2010/main" val="433160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3C3923-D54E-7A5A-75DE-08C43F239F07}"/>
              </a:ext>
            </a:extLst>
          </p:cNvPr>
          <p:cNvSpPr>
            <a:spLocks noGrp="1"/>
          </p:cNvSpPr>
          <p:nvPr>
            <p:ph type="title"/>
          </p:nvPr>
        </p:nvSpPr>
        <p:spPr>
          <a:xfrm>
            <a:off x="370460" y="236120"/>
            <a:ext cx="5165936" cy="1674904"/>
          </a:xfrm>
        </p:spPr>
        <p:txBody>
          <a:bodyPr vert="horz" lIns="91440" tIns="45720" rIns="91440" bIns="45720" rtlCol="0" anchor="ctr">
            <a:normAutofit/>
          </a:bodyPr>
          <a:lstStyle/>
          <a:p>
            <a:r>
              <a:rPr lang="en-US" sz="3100" kern="1200" dirty="0">
                <a:solidFill>
                  <a:schemeClr val="tx1"/>
                </a:solidFill>
                <a:latin typeface="Calibri" panose="020F0502020204030204" pitchFamily="34" charset="0"/>
                <a:cs typeface="Calibri" panose="020F0502020204030204" pitchFamily="34" charset="0"/>
              </a:rPr>
              <a:t>The Impact of the Modern Points System on the Careers of Non-Scoring Drivers</a:t>
            </a:r>
          </a:p>
        </p:txBody>
      </p:sp>
      <p:sp>
        <p:nvSpPr>
          <p:cNvPr id="4" name="TextBox 3">
            <a:extLst>
              <a:ext uri="{FF2B5EF4-FFF2-40B4-BE49-F238E27FC236}">
                <a16:creationId xmlns:a16="http://schemas.microsoft.com/office/drawing/2014/main" id="{D280EFFE-A448-3C05-1AFC-999F77B820DB}"/>
              </a:ext>
            </a:extLst>
          </p:cNvPr>
          <p:cNvSpPr txBox="1"/>
          <p:nvPr/>
        </p:nvSpPr>
        <p:spPr>
          <a:xfrm>
            <a:off x="5381469" y="177890"/>
            <a:ext cx="6810531" cy="2260018"/>
          </a:xfrm>
          <a:prstGeom prst="rect">
            <a:avLst/>
          </a:prstGeom>
        </p:spPr>
        <p:txBody>
          <a:bodyPr vert="horz" lIns="91440" tIns="45720" rIns="91440" bIns="45720" rtlCol="0" anchor="ctr">
            <a:normAutofit/>
          </a:bodyPr>
          <a:lstStyle/>
          <a:p>
            <a:pPr>
              <a:lnSpc>
                <a:spcPct val="90000"/>
              </a:lnSpc>
              <a:spcAft>
                <a:spcPts val="600"/>
              </a:spcAft>
            </a:pPr>
            <a:r>
              <a:rPr lang="en-US" b="1" dirty="0">
                <a:latin typeface="Calibri" panose="020F0502020204030204" pitchFamily="34" charset="0"/>
                <a:cs typeface="Calibri" panose="020F0502020204030204" pitchFamily="34" charset="0"/>
              </a:rPr>
              <a:t>Key Findings</a:t>
            </a:r>
            <a:endParaRPr lang="en-US" dirty="0">
              <a:latin typeface="Calibri" panose="020F0502020204030204" pitchFamily="34" charset="0"/>
              <a:cs typeface="Calibri" panose="020F0502020204030204" pitchFamily="34" charset="0"/>
            </a:endParaRPr>
          </a:p>
          <a:p>
            <a:pPr indent="-228600">
              <a:lnSpc>
                <a:spcPct val="90000"/>
              </a:lnSpc>
              <a:spcAft>
                <a:spcPts val="600"/>
              </a:spcAft>
              <a:buFont typeface="Arial" panose="020B0604020202020204" pitchFamily="34" charset="0"/>
              <a:buChar char="•"/>
            </a:pPr>
            <a:r>
              <a:rPr lang="en-US" b="1" dirty="0">
                <a:latin typeface="Calibri" panose="020F0502020204030204" pitchFamily="34" charset="0"/>
                <a:cs typeface="Calibri" panose="020F0502020204030204" pitchFamily="34" charset="0"/>
              </a:rPr>
              <a:t>Hidden scorers:</a:t>
            </a:r>
            <a:r>
              <a:rPr lang="en-US" dirty="0">
                <a:latin typeface="Calibri" panose="020F0502020204030204" pitchFamily="34" charset="0"/>
                <a:cs typeface="Calibri" panose="020F0502020204030204" pitchFamily="34" charset="0"/>
              </a:rPr>
              <a:t> Several drivers who never earned points historically would score under today’s system.</a:t>
            </a:r>
          </a:p>
          <a:p>
            <a:pPr indent="-228600">
              <a:lnSpc>
                <a:spcPct val="90000"/>
              </a:lnSpc>
              <a:spcAft>
                <a:spcPts val="600"/>
              </a:spcAft>
              <a:buFont typeface="Arial" panose="020B0604020202020204" pitchFamily="34" charset="0"/>
              <a:buChar char="•"/>
            </a:pPr>
            <a:r>
              <a:rPr lang="en-US" b="1" dirty="0">
                <a:latin typeface="Calibri" panose="020F0502020204030204" pitchFamily="34" charset="0"/>
                <a:cs typeface="Calibri" panose="020F0502020204030204" pitchFamily="34" charset="0"/>
              </a:rPr>
              <a:t>System matters:</a:t>
            </a:r>
            <a:r>
              <a:rPr lang="en-US" dirty="0">
                <a:latin typeface="Calibri" panose="020F0502020204030204" pitchFamily="34" charset="0"/>
                <a:cs typeface="Calibri" panose="020F0502020204030204" pitchFamily="34" charset="0"/>
              </a:rPr>
              <a:t> Changes in scoring dramatically reshape career totals.</a:t>
            </a:r>
          </a:p>
          <a:p>
            <a:pPr indent="-228600">
              <a:lnSpc>
                <a:spcPct val="90000"/>
              </a:lnSpc>
              <a:spcAft>
                <a:spcPts val="600"/>
              </a:spcAft>
              <a:buFont typeface="Arial" panose="020B0604020202020204" pitchFamily="34" charset="0"/>
              <a:buChar char="•"/>
            </a:pPr>
            <a:r>
              <a:rPr lang="en-US" b="1" dirty="0">
                <a:latin typeface="Calibri" panose="020F0502020204030204" pitchFamily="34" charset="0"/>
                <a:cs typeface="Calibri" panose="020F0502020204030204" pitchFamily="34" charset="0"/>
              </a:rPr>
              <a:t>Era effects:</a:t>
            </a:r>
            <a:r>
              <a:rPr lang="en-US" dirty="0">
                <a:latin typeface="Calibri" panose="020F0502020204030204" pitchFamily="34" charset="0"/>
                <a:cs typeface="Calibri" panose="020F0502020204030204" pitchFamily="34" charset="0"/>
              </a:rPr>
              <a:t> Midfield drivers from earlier eras would benefit most from modern rules.</a:t>
            </a:r>
          </a:p>
          <a:p>
            <a:pPr indent="-228600">
              <a:lnSpc>
                <a:spcPct val="90000"/>
              </a:lnSpc>
              <a:spcAft>
                <a:spcPts val="600"/>
              </a:spcAft>
              <a:buFont typeface="Arial" panose="020B0604020202020204" pitchFamily="34" charset="0"/>
              <a:buChar char="•"/>
            </a:pPr>
            <a:endParaRPr lang="en-US" sz="1300" dirty="0"/>
          </a:p>
        </p:txBody>
      </p:sp>
      <p:pic>
        <p:nvPicPr>
          <p:cNvPr id="6" name="Picture 5" descr="A graph of a career points&#10;&#10;AI-generated content may be incorrect.">
            <a:extLst>
              <a:ext uri="{FF2B5EF4-FFF2-40B4-BE49-F238E27FC236}">
                <a16:creationId xmlns:a16="http://schemas.microsoft.com/office/drawing/2014/main" id="{4C79A527-78A1-B080-F278-0147135F930A}"/>
              </a:ext>
            </a:extLst>
          </p:cNvPr>
          <p:cNvPicPr>
            <a:picLocks noChangeAspect="1"/>
          </p:cNvPicPr>
          <p:nvPr/>
        </p:nvPicPr>
        <p:blipFill>
          <a:blip r:embed="rId3"/>
          <a:stretch>
            <a:fillRect/>
          </a:stretch>
        </p:blipFill>
        <p:spPr>
          <a:xfrm>
            <a:off x="1066610" y="2437908"/>
            <a:ext cx="10284124" cy="4242203"/>
          </a:xfrm>
          <a:prstGeom prst="rect">
            <a:avLst/>
          </a:prstGeom>
        </p:spPr>
      </p:pic>
    </p:spTree>
    <p:extLst>
      <p:ext uri="{BB962C8B-B14F-4D97-AF65-F5344CB8AC3E}">
        <p14:creationId xmlns:p14="http://schemas.microsoft.com/office/powerpoint/2010/main" val="2606623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F66C1-5FFB-9B76-735A-9B2347529090}"/>
              </a:ext>
            </a:extLst>
          </p:cNvPr>
          <p:cNvSpPr>
            <a:spLocks noGrp="1"/>
          </p:cNvSpPr>
          <p:nvPr>
            <p:ph type="title"/>
          </p:nvPr>
        </p:nvSpPr>
        <p:spPr>
          <a:xfrm>
            <a:off x="523407" y="320154"/>
            <a:ext cx="10515600" cy="1325563"/>
          </a:xfrm>
        </p:spPr>
        <p:txBody>
          <a:bodyPr>
            <a:normAutofit fontScale="90000"/>
          </a:bodyPr>
          <a:lstStyle/>
          <a:p>
            <a:r>
              <a:rPr lang="en-GB" dirty="0">
                <a:latin typeface="Calibri" panose="020F0502020204030204" pitchFamily="34" charset="0"/>
                <a:cs typeface="Calibri" panose="020F0502020204030204" pitchFamily="34" charset="0"/>
              </a:rPr>
              <a:t>How dominant was this driver relative to the races available in their era?</a:t>
            </a:r>
            <a:br>
              <a:rPr lang="en-GB" dirty="0"/>
            </a:br>
            <a:endParaRPr lang="en-US" dirty="0"/>
          </a:p>
        </p:txBody>
      </p:sp>
      <p:pic>
        <p:nvPicPr>
          <p:cNvPr id="7" name="Picture 6" descr="A graph of a number of drivers&#10;&#10;AI-generated content may be incorrect.">
            <a:extLst>
              <a:ext uri="{FF2B5EF4-FFF2-40B4-BE49-F238E27FC236}">
                <a16:creationId xmlns:a16="http://schemas.microsoft.com/office/drawing/2014/main" id="{378B0AAC-06D8-2B45-86FE-C57CB8EDF9EC}"/>
              </a:ext>
            </a:extLst>
          </p:cNvPr>
          <p:cNvPicPr>
            <a:picLocks noChangeAspect="1"/>
          </p:cNvPicPr>
          <p:nvPr/>
        </p:nvPicPr>
        <p:blipFill>
          <a:blip r:embed="rId3"/>
          <a:stretch>
            <a:fillRect/>
          </a:stretch>
        </p:blipFill>
        <p:spPr>
          <a:xfrm>
            <a:off x="298554" y="1250705"/>
            <a:ext cx="8275819" cy="4937477"/>
          </a:xfrm>
          <a:prstGeom prst="rect">
            <a:avLst/>
          </a:prstGeom>
        </p:spPr>
      </p:pic>
      <p:pic>
        <p:nvPicPr>
          <p:cNvPr id="5" name="Picture 4" descr="A math formula with black text&#10;&#10;AI-generated content may be incorrect.">
            <a:extLst>
              <a:ext uri="{FF2B5EF4-FFF2-40B4-BE49-F238E27FC236}">
                <a16:creationId xmlns:a16="http://schemas.microsoft.com/office/drawing/2014/main" id="{66A42EE6-2DE0-2760-91BF-6570D82C856A}"/>
              </a:ext>
            </a:extLst>
          </p:cNvPr>
          <p:cNvPicPr>
            <a:picLocks noChangeAspect="1"/>
          </p:cNvPicPr>
          <p:nvPr/>
        </p:nvPicPr>
        <p:blipFill>
          <a:blip r:embed="rId4">
            <a:extLst>
              <a:ext uri="{BEBA8EAE-BF5A-486C-A8C5-ECC9F3942E4B}">
                <a14:imgProps xmlns:a14="http://schemas.microsoft.com/office/drawing/2010/main">
                  <a14:imgLayer r:embed="rId5">
                    <a14:imgEffect>
                      <a14:saturation sat="300000"/>
                    </a14:imgEffect>
                  </a14:imgLayer>
                </a14:imgProps>
              </a:ext>
            </a:extLst>
          </a:blip>
          <a:stretch>
            <a:fillRect/>
          </a:stretch>
        </p:blipFill>
        <p:spPr>
          <a:xfrm>
            <a:off x="8690620" y="1895011"/>
            <a:ext cx="3385133" cy="1041579"/>
          </a:xfrm>
          <a:prstGeom prst="rect">
            <a:avLst/>
          </a:prstGeom>
        </p:spPr>
      </p:pic>
      <p:sp>
        <p:nvSpPr>
          <p:cNvPr id="3" name="Content Placeholder 2">
            <a:extLst>
              <a:ext uri="{FF2B5EF4-FFF2-40B4-BE49-F238E27FC236}">
                <a16:creationId xmlns:a16="http://schemas.microsoft.com/office/drawing/2014/main" id="{56811CF9-AE26-8D5B-C403-3B2FB345B9E6}"/>
              </a:ext>
            </a:extLst>
          </p:cNvPr>
          <p:cNvSpPr>
            <a:spLocks noGrp="1"/>
          </p:cNvSpPr>
          <p:nvPr>
            <p:ph idx="1"/>
          </p:nvPr>
        </p:nvSpPr>
        <p:spPr>
          <a:xfrm>
            <a:off x="6710597" y="3597877"/>
            <a:ext cx="5481403" cy="3056403"/>
          </a:xfrm>
        </p:spPr>
        <p:txBody>
          <a:bodyPr>
            <a:normAutofit fontScale="92500" lnSpcReduction="20000"/>
          </a:bodyPr>
          <a:lstStyle/>
          <a:p>
            <a:pPr marL="0" indent="0">
              <a:buNone/>
            </a:pPr>
            <a:r>
              <a:rPr lang="en-GB" sz="2000" b="1" dirty="0">
                <a:latin typeface="Calibri" panose="020F0502020204030204" pitchFamily="34" charset="0"/>
                <a:cs typeface="Calibri" panose="020F0502020204030204" pitchFamily="34" charset="0"/>
              </a:rPr>
              <a:t>Why use era-adjusted Z-scores?</a:t>
            </a:r>
          </a:p>
          <a:p>
            <a:r>
              <a:rPr lang="en-GB" sz="2000" dirty="0">
                <a:latin typeface="Calibri" panose="020F0502020204030204" pitchFamily="34" charset="0"/>
                <a:cs typeface="Calibri" panose="020F0502020204030204" pitchFamily="34" charset="0"/>
              </a:rPr>
              <a:t>Raw F1 statistics aren’t comparable across history due to changes in race counts, points systems and reliability.</a:t>
            </a:r>
          </a:p>
          <a:p>
            <a:r>
              <a:rPr lang="en-GB" sz="2000" dirty="0">
                <a:latin typeface="Calibri" panose="020F0502020204030204" pitchFamily="34" charset="0"/>
                <a:cs typeface="Calibri" panose="020F0502020204030204" pitchFamily="34" charset="0"/>
              </a:rPr>
              <a:t>Era-adjusted Z-scores measure </a:t>
            </a:r>
            <a:r>
              <a:rPr lang="en-GB" sz="2000" b="1" dirty="0">
                <a:latin typeface="Calibri" panose="020F0502020204030204" pitchFamily="34" charset="0"/>
                <a:cs typeface="Calibri" panose="020F0502020204030204" pitchFamily="34" charset="0"/>
              </a:rPr>
              <a:t>performance relative to competitors</a:t>
            </a:r>
            <a:r>
              <a:rPr lang="en-GB" sz="2000" dirty="0">
                <a:latin typeface="Calibri" panose="020F0502020204030204" pitchFamily="34" charset="0"/>
                <a:cs typeface="Calibri" panose="020F0502020204030204" pitchFamily="34" charset="0"/>
              </a:rPr>
              <a:t>, not absolute totals.</a:t>
            </a:r>
          </a:p>
          <a:p>
            <a:r>
              <a:rPr lang="en-GB" sz="2000" dirty="0">
                <a:latin typeface="Calibri" panose="020F0502020204030204" pitchFamily="34" charset="0"/>
                <a:cs typeface="Calibri" panose="020F0502020204030204" pitchFamily="34" charset="0"/>
              </a:rPr>
              <a:t>This allows </a:t>
            </a:r>
            <a:r>
              <a:rPr lang="en-GB" sz="2000" b="1" dirty="0">
                <a:latin typeface="Calibri" panose="020F0502020204030204" pitchFamily="34" charset="0"/>
                <a:cs typeface="Calibri" panose="020F0502020204030204" pitchFamily="34" charset="0"/>
              </a:rPr>
              <a:t>fair comparison of dominance</a:t>
            </a:r>
            <a:r>
              <a:rPr lang="en-GB" sz="2000" dirty="0">
                <a:latin typeface="Calibri" panose="020F0502020204030204" pitchFamily="34" charset="0"/>
                <a:cs typeface="Calibri" panose="020F0502020204030204" pitchFamily="34" charset="0"/>
              </a:rPr>
              <a:t> across different eras.</a:t>
            </a:r>
          </a:p>
          <a:p>
            <a:r>
              <a:rPr lang="en-GB" sz="2000" dirty="0">
                <a:latin typeface="Calibri" panose="020F0502020204030204" pitchFamily="34" charset="0"/>
                <a:cs typeface="Calibri" panose="020F0502020204030204" pitchFamily="34" charset="0"/>
              </a:rPr>
              <a:t>A Z-score of +1 means a driver performed one standard deviation above the average driver in their era.</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968195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D027A-81BB-5705-4485-87BD5E01A7D5}"/>
              </a:ext>
            </a:extLst>
          </p:cNvPr>
          <p:cNvSpPr>
            <a:spLocks noGrp="1"/>
          </p:cNvSpPr>
          <p:nvPr>
            <p:ph type="title"/>
          </p:nvPr>
        </p:nvSpPr>
        <p:spPr>
          <a:xfrm>
            <a:off x="297904" y="662316"/>
            <a:ext cx="11596191" cy="795101"/>
          </a:xfrm>
        </p:spPr>
        <p:txBody>
          <a:bodyPr anchor="b">
            <a:noAutofit/>
          </a:bodyPr>
          <a:lstStyle/>
          <a:p>
            <a:r>
              <a:rPr lang="en-GB" sz="4000" dirty="0">
                <a:latin typeface="Calibri" panose="020F0502020204030204" pitchFamily="34" charset="0"/>
                <a:cs typeface="Calibri" panose="020F0502020204030204" pitchFamily="34" charset="0"/>
              </a:rPr>
              <a:t>The Evolution of fastest lap at the Italian Grand Prix (Monza)</a:t>
            </a:r>
            <a:endParaRPr lang="en-US" sz="4000" dirty="0">
              <a:latin typeface="Calibri" panose="020F0502020204030204" pitchFamily="34" charset="0"/>
              <a:cs typeface="Calibri" panose="020F0502020204030204" pitchFamily="34" charset="0"/>
            </a:endParaRPr>
          </a:p>
        </p:txBody>
      </p:sp>
      <p:sp>
        <p:nvSpPr>
          <p:cNvPr id="1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09263AD-D08C-CF36-59B9-085597BCB58B}"/>
              </a:ext>
            </a:extLst>
          </p:cNvPr>
          <p:cNvSpPr/>
          <p:nvPr/>
        </p:nvSpPr>
        <p:spPr>
          <a:xfrm>
            <a:off x="404734" y="2358592"/>
            <a:ext cx="3655202" cy="45955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E44AD6C7-AA7F-3A90-6B3D-F1F9DC85D28A}"/>
              </a:ext>
            </a:extLst>
          </p:cNvPr>
          <p:cNvSpPr txBox="1">
            <a:spLocks/>
          </p:cNvSpPr>
          <p:nvPr/>
        </p:nvSpPr>
        <p:spPr>
          <a:xfrm>
            <a:off x="228668" y="1927039"/>
            <a:ext cx="3622354" cy="375342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000" b="1" dirty="0">
                <a:latin typeface="Calibri" panose="020F0502020204030204" pitchFamily="34" charset="0"/>
                <a:cs typeface="Calibri" panose="020F0502020204030204" pitchFamily="34" charset="0"/>
              </a:rPr>
              <a:t>Why use average speed instead of lap time?</a:t>
            </a:r>
          </a:p>
          <a:p>
            <a:r>
              <a:rPr lang="en-US" altLang="en-US" sz="2000" dirty="0">
                <a:latin typeface="Calibri" panose="020F0502020204030204" pitchFamily="34" charset="0"/>
                <a:cs typeface="Calibri" panose="020F0502020204030204" pitchFamily="34" charset="0"/>
              </a:rPr>
              <a:t>Because track length has changed over time, lap times aren’t directly comparable across seasons.</a:t>
            </a:r>
          </a:p>
          <a:p>
            <a:r>
              <a:rPr lang="en-US" altLang="en-US" sz="2000" dirty="0">
                <a:latin typeface="Calibri" panose="020F0502020204030204" pitchFamily="34" charset="0"/>
                <a:cs typeface="Calibri" panose="020F0502020204030204" pitchFamily="34" charset="0"/>
              </a:rPr>
              <a:t>Using </a:t>
            </a:r>
            <a:r>
              <a:rPr lang="en-US" altLang="en-US" sz="2000" b="1" dirty="0">
                <a:latin typeface="Calibri" panose="020F0502020204030204" pitchFamily="34" charset="0"/>
                <a:cs typeface="Calibri" panose="020F0502020204030204" pitchFamily="34" charset="0"/>
              </a:rPr>
              <a:t>average speed (distance ÷ lap time)</a:t>
            </a:r>
            <a:r>
              <a:rPr lang="en-US" altLang="en-US" sz="2000" dirty="0">
                <a:latin typeface="Calibri" panose="020F0502020204030204" pitchFamily="34" charset="0"/>
                <a:cs typeface="Calibri" panose="020F0502020204030204" pitchFamily="34" charset="0"/>
              </a:rPr>
              <a:t> provides a fair, layout-independent performance metric.</a:t>
            </a:r>
          </a:p>
          <a:p>
            <a:r>
              <a:rPr lang="en-GB" sz="2000" dirty="0">
                <a:latin typeface="Calibri" panose="020F0502020204030204" pitchFamily="34" charset="0"/>
                <a:cs typeface="Calibri" panose="020F0502020204030204" pitchFamily="34" charset="0"/>
              </a:rPr>
              <a:t>Pole speeds rise steadily, reflecting aerodynamic and engine advances from 1950-2024.</a:t>
            </a:r>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p:txBody>
      </p:sp>
      <p:pic>
        <p:nvPicPr>
          <p:cNvPr id="14" name="Picture 13" descr="A graph with lines and dots&#10;&#10;AI-generated content may be incorrect.">
            <a:extLst>
              <a:ext uri="{FF2B5EF4-FFF2-40B4-BE49-F238E27FC236}">
                <a16:creationId xmlns:a16="http://schemas.microsoft.com/office/drawing/2014/main" id="{00148074-7DD0-0DA9-2D81-84E7AF855049}"/>
              </a:ext>
            </a:extLst>
          </p:cNvPr>
          <p:cNvPicPr>
            <a:picLocks noChangeAspect="1"/>
          </p:cNvPicPr>
          <p:nvPr/>
        </p:nvPicPr>
        <p:blipFill>
          <a:blip r:embed="rId3"/>
          <a:stretch>
            <a:fillRect/>
          </a:stretch>
        </p:blipFill>
        <p:spPr>
          <a:xfrm>
            <a:off x="4027088" y="1767041"/>
            <a:ext cx="8025210" cy="3984479"/>
          </a:xfrm>
          <a:prstGeom prst="rect">
            <a:avLst/>
          </a:prstGeom>
        </p:spPr>
      </p:pic>
    </p:spTree>
    <p:extLst>
      <p:ext uri="{BB962C8B-B14F-4D97-AF65-F5344CB8AC3E}">
        <p14:creationId xmlns:p14="http://schemas.microsoft.com/office/powerpoint/2010/main" val="4154894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B2F3A90-3F4E-2675-B4DD-F50118A68153}"/>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3291436-B765-9C38-A744-32ED0830C4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0D79E1-D030-132B-EEAF-32D4DB037F81}"/>
              </a:ext>
            </a:extLst>
          </p:cNvPr>
          <p:cNvSpPr>
            <a:spLocks noGrp="1"/>
          </p:cNvSpPr>
          <p:nvPr>
            <p:ph type="title"/>
          </p:nvPr>
        </p:nvSpPr>
        <p:spPr>
          <a:xfrm>
            <a:off x="297904" y="662316"/>
            <a:ext cx="11596191" cy="795101"/>
          </a:xfrm>
        </p:spPr>
        <p:txBody>
          <a:bodyPr anchor="b">
            <a:noAutofit/>
          </a:bodyPr>
          <a:lstStyle/>
          <a:p>
            <a:r>
              <a:rPr lang="en-GB" sz="4000" dirty="0">
                <a:latin typeface="Calibri" panose="020F0502020204030204" pitchFamily="34" charset="0"/>
                <a:cs typeface="Calibri" panose="020F0502020204030204" pitchFamily="34" charset="0"/>
              </a:rPr>
              <a:t>The Evolution of fastest lap at the Monaco Grand Prix</a:t>
            </a:r>
            <a:endParaRPr lang="en-US" sz="4000" dirty="0">
              <a:latin typeface="Calibri" panose="020F0502020204030204" pitchFamily="34" charset="0"/>
              <a:cs typeface="Calibri" panose="020F0502020204030204" pitchFamily="34" charset="0"/>
            </a:endParaRPr>
          </a:p>
        </p:txBody>
      </p:sp>
      <p:sp>
        <p:nvSpPr>
          <p:cNvPr id="13" name="sketch line">
            <a:extLst>
              <a:ext uri="{FF2B5EF4-FFF2-40B4-BE49-F238E27FC236}">
                <a16:creationId xmlns:a16="http://schemas.microsoft.com/office/drawing/2014/main" id="{5399DCFB-1255-ECE9-69D6-B611790C22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AB1E0B3-3C20-090D-E079-9BEB08212438}"/>
              </a:ext>
            </a:extLst>
          </p:cNvPr>
          <p:cNvSpPr/>
          <p:nvPr/>
        </p:nvSpPr>
        <p:spPr>
          <a:xfrm>
            <a:off x="404734" y="2358592"/>
            <a:ext cx="3655202" cy="45955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BC6E71B3-6A41-CD5D-A6FD-EDC5E3874FE0}"/>
              </a:ext>
            </a:extLst>
          </p:cNvPr>
          <p:cNvSpPr txBox="1">
            <a:spLocks/>
          </p:cNvSpPr>
          <p:nvPr/>
        </p:nvSpPr>
        <p:spPr>
          <a:xfrm>
            <a:off x="228668" y="1927039"/>
            <a:ext cx="3622354" cy="3952863"/>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3000" b="1" dirty="0">
                <a:latin typeface="Calibri" panose="020F0502020204030204" pitchFamily="34" charset="0"/>
                <a:cs typeface="Calibri" panose="020F0502020204030204" pitchFamily="34" charset="0"/>
              </a:rPr>
              <a:t>Using Monaco to isolate car performance from track changes</a:t>
            </a:r>
          </a:p>
          <a:p>
            <a:r>
              <a:rPr lang="en-US" altLang="en-US" sz="3000" dirty="0">
                <a:latin typeface="Calibri" panose="020F0502020204030204" pitchFamily="34" charset="0"/>
                <a:cs typeface="Calibri" panose="020F0502020204030204" pitchFamily="34" charset="0"/>
              </a:rPr>
              <a:t>Monaco’s layout has remained relatively unchanged, making it ideal for isolating true performance trends.</a:t>
            </a:r>
          </a:p>
          <a:p>
            <a:r>
              <a:rPr lang="en-US" altLang="en-US" sz="3000" dirty="0">
                <a:latin typeface="Calibri" panose="020F0502020204030204" pitchFamily="34" charset="0"/>
                <a:cs typeface="Calibri" panose="020F0502020204030204" pitchFamily="34" charset="0"/>
              </a:rPr>
              <a:t>Because the circuit is so consistent, changes in average speed mainly reflect car development, not track redesign.</a:t>
            </a:r>
          </a:p>
          <a:p>
            <a:r>
              <a:rPr lang="en-US" altLang="en-US" sz="3000" dirty="0">
                <a:latin typeface="Calibri" panose="020F0502020204030204" pitchFamily="34" charset="0"/>
                <a:cs typeface="Calibri" panose="020F0502020204030204" pitchFamily="34" charset="0"/>
              </a:rPr>
              <a:t>This allows us to see how Formula 1 has genuinely evolved over time, independent of layout effects.</a:t>
            </a:r>
            <a:endParaRPr lang="en-US" sz="3000" dirty="0">
              <a:latin typeface="Calibri" panose="020F0502020204030204" pitchFamily="34" charset="0"/>
              <a:cs typeface="Calibri" panose="020F0502020204030204" pitchFamily="34" charset="0"/>
            </a:endParaRPr>
          </a:p>
          <a:p>
            <a:pPr marL="0" indent="0">
              <a:buFont typeface="Arial" panose="020B0604020202020204" pitchFamily="34" charset="0"/>
              <a:buNone/>
            </a:pPr>
            <a:endParaRPr lang="en-US" dirty="0"/>
          </a:p>
        </p:txBody>
      </p:sp>
      <p:pic>
        <p:nvPicPr>
          <p:cNvPr id="12" name="Picture 11" descr="A graph showing the growth of a stock market&#10;&#10;AI-generated content may be incorrect.">
            <a:extLst>
              <a:ext uri="{FF2B5EF4-FFF2-40B4-BE49-F238E27FC236}">
                <a16:creationId xmlns:a16="http://schemas.microsoft.com/office/drawing/2014/main" id="{63A2FFDA-D508-59C7-4FCD-3A1D250B31FD}"/>
              </a:ext>
            </a:extLst>
          </p:cNvPr>
          <p:cNvPicPr>
            <a:picLocks noChangeAspect="1"/>
          </p:cNvPicPr>
          <p:nvPr/>
        </p:nvPicPr>
        <p:blipFill>
          <a:blip r:embed="rId3"/>
          <a:stretch>
            <a:fillRect/>
          </a:stretch>
        </p:blipFill>
        <p:spPr>
          <a:xfrm>
            <a:off x="3898373" y="1758569"/>
            <a:ext cx="8142343" cy="4042635"/>
          </a:xfrm>
          <a:prstGeom prst="rect">
            <a:avLst/>
          </a:prstGeom>
        </p:spPr>
      </p:pic>
    </p:spTree>
    <p:extLst>
      <p:ext uri="{BB962C8B-B14F-4D97-AF65-F5344CB8AC3E}">
        <p14:creationId xmlns:p14="http://schemas.microsoft.com/office/powerpoint/2010/main" val="3688680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91739-F1FB-9BA9-137C-380C7F25651E}"/>
              </a:ext>
            </a:extLst>
          </p:cNvPr>
          <p:cNvSpPr>
            <a:spLocks noGrp="1"/>
          </p:cNvSpPr>
          <p:nvPr>
            <p:ph type="title"/>
          </p:nvPr>
        </p:nvSpPr>
        <p:spPr>
          <a:xfrm>
            <a:off x="2654819" y="96644"/>
            <a:ext cx="6882361" cy="851018"/>
          </a:xfrm>
        </p:spPr>
        <p:txBody>
          <a:bodyPr/>
          <a:lstStyle/>
          <a:p>
            <a:r>
              <a:rPr lang="en-US" dirty="0">
                <a:latin typeface="Calibri" panose="020F0502020204030204" pitchFamily="34" charset="0"/>
                <a:cs typeface="Calibri" panose="020F0502020204030204" pitchFamily="34" charset="0"/>
              </a:rPr>
              <a:t>Challenges with my code</a:t>
            </a:r>
          </a:p>
        </p:txBody>
      </p:sp>
      <p:sp>
        <p:nvSpPr>
          <p:cNvPr id="3" name="Content Placeholder 2">
            <a:extLst>
              <a:ext uri="{FF2B5EF4-FFF2-40B4-BE49-F238E27FC236}">
                <a16:creationId xmlns:a16="http://schemas.microsoft.com/office/drawing/2014/main" id="{81ADFDA3-AEEF-386D-DB7E-F2491E49976B}"/>
              </a:ext>
            </a:extLst>
          </p:cNvPr>
          <p:cNvSpPr>
            <a:spLocks noGrp="1"/>
          </p:cNvSpPr>
          <p:nvPr>
            <p:ph idx="1"/>
          </p:nvPr>
        </p:nvSpPr>
        <p:spPr>
          <a:xfrm>
            <a:off x="353520" y="1477182"/>
            <a:ext cx="5162861" cy="2537397"/>
          </a:xfrm>
        </p:spPr>
        <p:txBody>
          <a:bodyPr>
            <a:normAutofit/>
          </a:bodyPr>
          <a:lstStyle/>
          <a:p>
            <a:r>
              <a:rPr lang="en-GB" dirty="0">
                <a:latin typeface="Calibri" panose="020F0502020204030204" pitchFamily="34" charset="0"/>
                <a:cs typeface="Calibri" panose="020F0502020204030204" pitchFamily="34" charset="0"/>
              </a:rPr>
              <a:t>I filled the gap in pre-1994 qualifying data by scraping historic results and merging them with the modern dataset.</a:t>
            </a:r>
            <a:endParaRPr lang="en-US" dirty="0">
              <a:latin typeface="Calibri" panose="020F0502020204030204" pitchFamily="34" charset="0"/>
              <a:cs typeface="Calibri" panose="020F0502020204030204" pitchFamily="34" charset="0"/>
            </a:endParaRPr>
          </a:p>
        </p:txBody>
      </p:sp>
      <p:pic>
        <p:nvPicPr>
          <p:cNvPr id="5" name="Picture 4" descr="A computer screen with text on it&#10;&#10;AI-generated content may be incorrect.">
            <a:extLst>
              <a:ext uri="{FF2B5EF4-FFF2-40B4-BE49-F238E27FC236}">
                <a16:creationId xmlns:a16="http://schemas.microsoft.com/office/drawing/2014/main" id="{37BA81E2-7E49-0D04-8C49-1609B5DCD4E0}"/>
              </a:ext>
            </a:extLst>
          </p:cNvPr>
          <p:cNvPicPr>
            <a:picLocks noChangeAspect="1"/>
          </p:cNvPicPr>
          <p:nvPr/>
        </p:nvPicPr>
        <p:blipFill>
          <a:blip r:embed="rId3"/>
          <a:stretch>
            <a:fillRect/>
          </a:stretch>
        </p:blipFill>
        <p:spPr>
          <a:xfrm>
            <a:off x="5636302" y="1164849"/>
            <a:ext cx="6412041" cy="2570865"/>
          </a:xfrm>
          <a:prstGeom prst="rect">
            <a:avLst/>
          </a:prstGeom>
        </p:spPr>
      </p:pic>
      <p:pic>
        <p:nvPicPr>
          <p:cNvPr id="7" name="Picture 6" descr="A screen shot of a computer program&#10;&#10;AI-generated content may be incorrect.">
            <a:extLst>
              <a:ext uri="{FF2B5EF4-FFF2-40B4-BE49-F238E27FC236}">
                <a16:creationId xmlns:a16="http://schemas.microsoft.com/office/drawing/2014/main" id="{3436E5FF-249C-A839-BF28-5CF8D0300C42}"/>
              </a:ext>
            </a:extLst>
          </p:cNvPr>
          <p:cNvPicPr>
            <a:picLocks noChangeAspect="1"/>
          </p:cNvPicPr>
          <p:nvPr/>
        </p:nvPicPr>
        <p:blipFill>
          <a:blip r:embed="rId4"/>
          <a:stretch>
            <a:fillRect/>
          </a:stretch>
        </p:blipFill>
        <p:spPr>
          <a:xfrm>
            <a:off x="4840470" y="3862960"/>
            <a:ext cx="7207873" cy="2840636"/>
          </a:xfrm>
          <a:prstGeom prst="rect">
            <a:avLst/>
          </a:prstGeom>
        </p:spPr>
      </p:pic>
      <p:sp>
        <p:nvSpPr>
          <p:cNvPr id="8" name="Content Placeholder 2">
            <a:extLst>
              <a:ext uri="{FF2B5EF4-FFF2-40B4-BE49-F238E27FC236}">
                <a16:creationId xmlns:a16="http://schemas.microsoft.com/office/drawing/2014/main" id="{FFB647A3-B208-BA17-D8A6-396D30D4BF80}"/>
              </a:ext>
            </a:extLst>
          </p:cNvPr>
          <p:cNvSpPr txBox="1">
            <a:spLocks/>
          </p:cNvSpPr>
          <p:nvPr/>
        </p:nvSpPr>
        <p:spPr>
          <a:xfrm>
            <a:off x="236927" y="4014579"/>
            <a:ext cx="4603543" cy="253739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latin typeface="Calibri" panose="020F0502020204030204" pitchFamily="34" charset="0"/>
                <a:cs typeface="Calibri" panose="020F0502020204030204" pitchFamily="34" charset="0"/>
              </a:rPr>
              <a:t>Qualifying times appeared in multiple formats, so I converted them into seconds to enable reliable speed calculations and fair comparison across different circuit layouts.</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45989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706A0991-B539-BD53-06FA-3CCE54E508B8}"/>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race car on a track&#10;&#10;AI-generated content may be incorrect.">
            <a:extLst>
              <a:ext uri="{FF2B5EF4-FFF2-40B4-BE49-F238E27FC236}">
                <a16:creationId xmlns:a16="http://schemas.microsoft.com/office/drawing/2014/main" id="{31B5D1C0-7389-A5DA-010F-FB3651957F01}"/>
              </a:ext>
            </a:extLst>
          </p:cNvPr>
          <p:cNvPicPr>
            <a:picLocks noChangeAspect="1"/>
          </p:cNvPicPr>
          <p:nvPr/>
        </p:nvPicPr>
        <p:blipFill>
          <a:blip r:embed="rId3">
            <a:alphaModFix amt="50000"/>
          </a:blip>
          <a:srcRect b="15730"/>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611E4F18-A887-AEB2-86D0-384228C16510}"/>
              </a:ext>
            </a:extLst>
          </p:cNvPr>
          <p:cNvSpPr>
            <a:spLocks noGrp="1"/>
          </p:cNvSpPr>
          <p:nvPr>
            <p:ph type="ctrTitle"/>
          </p:nvPr>
        </p:nvSpPr>
        <p:spPr>
          <a:xfrm>
            <a:off x="1524000" y="1122362"/>
            <a:ext cx="9144000" cy="2900518"/>
          </a:xfrm>
        </p:spPr>
        <p:txBody>
          <a:bodyPr>
            <a:normAutofit/>
          </a:bodyPr>
          <a:lstStyle/>
          <a:p>
            <a:r>
              <a:rPr lang="en-US" dirty="0">
                <a:solidFill>
                  <a:srgbClr val="FFFFFF"/>
                </a:solidFill>
                <a:latin typeface="Calibri" panose="020F0502020204030204" pitchFamily="34" charset="0"/>
                <a:cs typeface="Calibri" panose="020F0502020204030204" pitchFamily="34" charset="0"/>
              </a:rPr>
              <a:t>Thank you for listening!</a:t>
            </a:r>
          </a:p>
        </p:txBody>
      </p:sp>
    </p:spTree>
    <p:extLst>
      <p:ext uri="{BB962C8B-B14F-4D97-AF65-F5344CB8AC3E}">
        <p14:creationId xmlns:p14="http://schemas.microsoft.com/office/powerpoint/2010/main" val="23435729"/>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606</TotalTime>
  <Words>1067</Words>
  <Application>Microsoft Macintosh PowerPoint</Application>
  <PresentationFormat>Widescreen</PresentationFormat>
  <Paragraphs>79</Paragraphs>
  <Slides>10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Calibri</vt:lpstr>
      <vt:lpstr>Office Theme</vt:lpstr>
      <vt:lpstr>Programming assessment Presentation</vt:lpstr>
      <vt:lpstr>An introduction to Formula 1 data</vt:lpstr>
      <vt:lpstr>Qualifying vs Race Performance Analysis</vt:lpstr>
      <vt:lpstr>PowerPoint Presentation</vt:lpstr>
      <vt:lpstr>The Impact of the Modern Points System on the Careers of Non-Scoring Drivers</vt:lpstr>
      <vt:lpstr>How dominant was this driver relative to the races available in their era? </vt:lpstr>
      <vt:lpstr>The Evolution of fastest lap at the Italian Grand Prix (Monza)</vt:lpstr>
      <vt:lpstr>The Evolution of fastest lap at the Monaco Grand Prix</vt:lpstr>
      <vt:lpstr>Challenges with my code</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Oliver McQuillan</dc:creator>
  <cp:lastModifiedBy>Oliver McQuillan</cp:lastModifiedBy>
  <cp:revision>6</cp:revision>
  <dcterms:created xsi:type="dcterms:W3CDTF">2026-01-06T10:11:20Z</dcterms:created>
  <dcterms:modified xsi:type="dcterms:W3CDTF">2026-01-08T11:57:55Z</dcterms:modified>
</cp:coreProperties>
</file>